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b331ed85ae4545" /><Relationship Type="http://schemas.openxmlformats.org/officeDocument/2006/relationships/extended-properties" Target="/docProps/app.xml" Id="Re7646a8ff1a74c15" /><Relationship Type="http://schemas.openxmlformats.org/officeDocument/2006/relationships/officeDocument" Target="/ppt/presentation.xml" Id="Rba27165632124a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9cabaa929b45b6"/>
  </p:sldMasterIdLst>
  <p:notesMasterIdLst>
    <p:notesMasterId xmlns:r="http://schemas.openxmlformats.org/officeDocument/2006/relationships" r:id="R1c5269a61df34c24"/>
  </p:notesMasterIdLst>
  <p:sldIdLst>
    <p:sldId xmlns:r="http://schemas.openxmlformats.org/officeDocument/2006/relationships" id="256" r:id="R47420db0d8094e8c"/>
    <p:sldId xmlns:r="http://schemas.openxmlformats.org/officeDocument/2006/relationships" id="257" r:id="R41da4e45bb8c4151"/>
    <p:sldId xmlns:r="http://schemas.openxmlformats.org/officeDocument/2006/relationships" id="258" r:id="R8d07a1604f164565"/>
    <p:sldId xmlns:r="http://schemas.openxmlformats.org/officeDocument/2006/relationships" id="259" r:id="R6656f1e6a97f465c"/>
    <p:sldId xmlns:r="http://schemas.openxmlformats.org/officeDocument/2006/relationships" id="260" r:id="Rdd6f47ebcd5d419a"/>
    <p:sldId xmlns:r="http://schemas.openxmlformats.org/officeDocument/2006/relationships" id="261" r:id="R896cbefbd7ff4ee2"/>
    <p:sldId xmlns:r="http://schemas.openxmlformats.org/officeDocument/2006/relationships" id="262" r:id="R5adfab9ab21940d6"/>
    <p:sldId xmlns:r="http://schemas.openxmlformats.org/officeDocument/2006/relationships" id="263" r:id="R7e43cb25dad345b5"/>
    <p:sldId xmlns:r="http://schemas.openxmlformats.org/officeDocument/2006/relationships" id="264" r:id="Rdf7ec9abeeab4a06"/>
    <p:sldId xmlns:r="http://schemas.openxmlformats.org/officeDocument/2006/relationships" id="265" r:id="Ra1543e0b98b6464f"/>
    <p:sldId xmlns:r="http://schemas.openxmlformats.org/officeDocument/2006/relationships" id="266" r:id="Rab77ecce712d4c88"/>
    <p:sldId xmlns:r="http://schemas.openxmlformats.org/officeDocument/2006/relationships" id="267" r:id="R17f6a58d79f14ad6"/>
    <p:sldId xmlns:r="http://schemas.openxmlformats.org/officeDocument/2006/relationships" id="268" r:id="R3e550fdba2814db9"/>
    <p:sldId xmlns:r="http://schemas.openxmlformats.org/officeDocument/2006/relationships" id="269" r:id="Ra05e295782e64935"/>
    <p:sldId xmlns:r="http://schemas.openxmlformats.org/officeDocument/2006/relationships" id="270" r:id="Rd01ae130c80945db"/>
    <p:sldId xmlns:r="http://schemas.openxmlformats.org/officeDocument/2006/relationships" id="271" r:id="R32900c12e66e4afd"/>
    <p:sldId xmlns:r="http://schemas.openxmlformats.org/officeDocument/2006/relationships" id="272" r:id="R5ba3ae2485c54121"/>
    <p:sldId xmlns:r="http://schemas.openxmlformats.org/officeDocument/2006/relationships" id="273" r:id="R7a7d84d1c81c4eec"/>
    <p:sldId xmlns:r="http://schemas.openxmlformats.org/officeDocument/2006/relationships" id="274" r:id="R3f37e17639fb450e"/>
    <p:sldId xmlns:r="http://schemas.openxmlformats.org/officeDocument/2006/relationships" id="275" r:id="Re737149b2b7e4e96"/>
    <p:sldId xmlns:r="http://schemas.openxmlformats.org/officeDocument/2006/relationships" id="276" r:id="Ra6373b62031e4196"/>
    <p:sldId xmlns:r="http://schemas.openxmlformats.org/officeDocument/2006/relationships" id="277" r:id="R7a8dc23a61a94ed6"/>
    <p:sldId xmlns:r="http://schemas.openxmlformats.org/officeDocument/2006/relationships" id="278" r:id="R40811376cf4d4d1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b9b688ee40483e" /><Relationship Type="http://schemas.openxmlformats.org/officeDocument/2006/relationships/slideMaster" Target="/ppt/slideMasters/slideMaster1.xml" Id="R679cabaa929b45b6" /><Relationship Type="http://schemas.openxmlformats.org/officeDocument/2006/relationships/notesMaster" Target="/ppt/notesMasters/notesMaster1.xml" Id="R1c5269a61df34c24" /><Relationship Type="http://schemas.openxmlformats.org/officeDocument/2006/relationships/presProps" Target="/ppt/presProps.xml" Id="R59396d24e3e7477c" /><Relationship Type="http://schemas.openxmlformats.org/officeDocument/2006/relationships/viewProps" Target="/ppt/viewProps.xml" Id="Rf03e05df99d14e69" /><Relationship Type="http://schemas.openxmlformats.org/officeDocument/2006/relationships/tableStyles" Target="/ppt/tableStyles.xml" Id="R5c277889ebc54192" /><Relationship Type="http://schemas.openxmlformats.org/officeDocument/2006/relationships/slide" Target="/ppt/slides/slide1.xml" Id="R47420db0d8094e8c" /><Relationship Type="http://schemas.openxmlformats.org/officeDocument/2006/relationships/slide" Target="/ppt/slides/slide2.xml" Id="R41da4e45bb8c4151" /><Relationship Type="http://schemas.openxmlformats.org/officeDocument/2006/relationships/slide" Target="/ppt/slides/slide3.xml" Id="R8d07a1604f164565" /><Relationship Type="http://schemas.openxmlformats.org/officeDocument/2006/relationships/slide" Target="/ppt/slides/slide4.xml" Id="R6656f1e6a97f465c" /><Relationship Type="http://schemas.openxmlformats.org/officeDocument/2006/relationships/slide" Target="/ppt/slides/slide5.xml" Id="Rdd6f47ebcd5d419a" /><Relationship Type="http://schemas.openxmlformats.org/officeDocument/2006/relationships/slide" Target="/ppt/slides/slide6.xml" Id="R896cbefbd7ff4ee2" /><Relationship Type="http://schemas.openxmlformats.org/officeDocument/2006/relationships/slide" Target="/ppt/slides/slide7.xml" Id="R5adfab9ab21940d6" /><Relationship Type="http://schemas.openxmlformats.org/officeDocument/2006/relationships/slide" Target="/ppt/slides/slide8.xml" Id="R7e43cb25dad345b5" /><Relationship Type="http://schemas.openxmlformats.org/officeDocument/2006/relationships/slide" Target="/ppt/slides/slide9.xml" Id="Rdf7ec9abeeab4a06" /><Relationship Type="http://schemas.openxmlformats.org/officeDocument/2006/relationships/slide" Target="/ppt/slides/slide10.xml" Id="Ra1543e0b98b6464f" /><Relationship Type="http://schemas.openxmlformats.org/officeDocument/2006/relationships/slide" Target="/ppt/slides/slide11.xml" Id="Rab77ecce712d4c88" /><Relationship Type="http://schemas.openxmlformats.org/officeDocument/2006/relationships/slide" Target="/ppt/slides/slide12.xml" Id="R17f6a58d79f14ad6" /><Relationship Type="http://schemas.openxmlformats.org/officeDocument/2006/relationships/slide" Target="/ppt/slides/slide13.xml" Id="R3e550fdba2814db9" /><Relationship Type="http://schemas.openxmlformats.org/officeDocument/2006/relationships/slide" Target="/ppt/slides/slide14.xml" Id="Ra05e295782e64935" /><Relationship Type="http://schemas.openxmlformats.org/officeDocument/2006/relationships/slide" Target="/ppt/slides/slide15.xml" Id="Rd01ae130c80945db" /><Relationship Type="http://schemas.openxmlformats.org/officeDocument/2006/relationships/slide" Target="/ppt/slides/slide16.xml" Id="R32900c12e66e4afd" /><Relationship Type="http://schemas.openxmlformats.org/officeDocument/2006/relationships/slide" Target="/ppt/slides/slide17.xml" Id="R5ba3ae2485c54121" /><Relationship Type="http://schemas.openxmlformats.org/officeDocument/2006/relationships/slide" Target="/ppt/slides/slide18.xml" Id="R7a7d84d1c81c4eec" /><Relationship Type="http://schemas.openxmlformats.org/officeDocument/2006/relationships/slide" Target="/ppt/slides/slide19.xml" Id="R3f37e17639fb450e" /><Relationship Type="http://schemas.openxmlformats.org/officeDocument/2006/relationships/slide" Target="/ppt/slides/slide20.xml" Id="Re737149b2b7e4e96" /><Relationship Type="http://schemas.openxmlformats.org/officeDocument/2006/relationships/slide" Target="/ppt/slides/slide21.xml" Id="Ra6373b62031e4196" /><Relationship Type="http://schemas.openxmlformats.org/officeDocument/2006/relationships/slide" Target="/ppt/slides/slide22.xml" Id="R7a8dc23a61a94ed6" /><Relationship Type="http://schemas.openxmlformats.org/officeDocument/2006/relationships/slide" Target="/ppt/slides/slide23.xml" Id="R40811376cf4d4d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4464ea935e40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02f8bb29354cfe" /><Relationship Type="http://schemas.openxmlformats.org/officeDocument/2006/relationships/notesMaster" Target="/ppt/notesMasters/notesMaster1.xml" Id="R2ee6cc7c069649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e7a778f8454f2f" /><Relationship Type="http://schemas.openxmlformats.org/officeDocument/2006/relationships/notesMaster" Target="/ppt/notesMasters/notesMaster1.xml" Id="R4e3ae3428df34c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9b41cd54e241d0" /><Relationship Type="http://schemas.openxmlformats.org/officeDocument/2006/relationships/notesMaster" Target="/ppt/notesMasters/notesMaster1.xml" Id="R02ed50059eea43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9a3077a3234f69" /><Relationship Type="http://schemas.openxmlformats.org/officeDocument/2006/relationships/notesMaster" Target="/ppt/notesMasters/notesMaster1.xml" Id="R959be71402c449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0972592cab4be9" /><Relationship Type="http://schemas.openxmlformats.org/officeDocument/2006/relationships/notesMaster" Target="/ppt/notesMasters/notesMaster1.xml" Id="Ra5f31214bad549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0197a89a60483c" /><Relationship Type="http://schemas.openxmlformats.org/officeDocument/2006/relationships/notesMaster" Target="/ppt/notesMasters/notesMaster1.xml" Id="Rb1c7aad0fcfc41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9470a17c5c432f" /><Relationship Type="http://schemas.openxmlformats.org/officeDocument/2006/relationships/notesMaster" Target="/ppt/notesMasters/notesMaster1.xml" Id="R61d75de582844f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c10bbf99fa4637" /><Relationship Type="http://schemas.openxmlformats.org/officeDocument/2006/relationships/notesMaster" Target="/ppt/notesMasters/notesMaster1.xml" Id="Rd3e89cbe3c474b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b4026665274b9a" /><Relationship Type="http://schemas.openxmlformats.org/officeDocument/2006/relationships/notesMaster" Target="/ppt/notesMasters/notesMaster1.xml" Id="R01eda43608e942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7e3e8bcea24c12" /><Relationship Type="http://schemas.openxmlformats.org/officeDocument/2006/relationships/notesMaster" Target="/ppt/notesMasters/notesMaster1.xml" Id="R8d3a7890b8864c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7fb7c7022247cc" /><Relationship Type="http://schemas.openxmlformats.org/officeDocument/2006/relationships/notesMaster" Target="/ppt/notesMasters/notesMaster1.xml" Id="R207093606ad141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ca99fba16e4b9e" /><Relationship Type="http://schemas.openxmlformats.org/officeDocument/2006/relationships/notesMaster" Target="/ppt/notesMasters/notesMaster1.xml" Id="Rad34d138671f4c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863056a0924c4a" /><Relationship Type="http://schemas.openxmlformats.org/officeDocument/2006/relationships/notesMaster" Target="/ppt/notesMasters/notesMaster1.xml" Id="R9bce950920e844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775bbbc470412e" /><Relationship Type="http://schemas.openxmlformats.org/officeDocument/2006/relationships/notesMaster" Target="/ppt/notesMasters/notesMaster1.xml" Id="Rb655bb4df28146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fcb90b755b4a85" /><Relationship Type="http://schemas.openxmlformats.org/officeDocument/2006/relationships/notesMaster" Target="/ppt/notesMasters/notesMaster1.xml" Id="R7cfbc8080a654f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08a33f8448482d" /><Relationship Type="http://schemas.openxmlformats.org/officeDocument/2006/relationships/notesMaster" Target="/ppt/notesMasters/notesMaster1.xml" Id="R76c4c0c55e9d4d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ca17a90f2e4dad" /><Relationship Type="http://schemas.openxmlformats.org/officeDocument/2006/relationships/notesMaster" Target="/ppt/notesMasters/notesMaster1.xml" Id="R66efe734fc924e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f9b94d64774381" /><Relationship Type="http://schemas.openxmlformats.org/officeDocument/2006/relationships/notesMaster" Target="/ppt/notesMasters/notesMaster1.xml" Id="Ra5f307e96b0a43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9d84dfc30a43f9" /><Relationship Type="http://schemas.openxmlformats.org/officeDocument/2006/relationships/notesMaster" Target="/ppt/notesMasters/notesMaster1.xml" Id="R077db1ff7f774ca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bb5821d07414766" /><Relationship Type="http://schemas.openxmlformats.org/officeDocument/2006/relationships/notesMaster" Target="/ppt/notesMasters/notesMaster1.xml" Id="R4320416e52a94c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c40e830755049a2" /><Relationship Type="http://schemas.openxmlformats.org/officeDocument/2006/relationships/notesMaster" Target="/ppt/notesMasters/notesMaster1.xml" Id="R42ede124f2574a2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0687691fe57456d" /><Relationship Type="http://schemas.openxmlformats.org/officeDocument/2006/relationships/notesMaster" Target="/ppt/notesMasters/notesMaster1.xml" Id="R245cec87adf847e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f935ee7a97c434b" /><Relationship Type="http://schemas.openxmlformats.org/officeDocument/2006/relationships/notesMaster" Target="/ppt/notesMasters/notesMaster1.xml" Id="Rc246badff36844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работе сравниваются пять разных семейств: YOLOv8, Faster R-CNN, SSD, DETR и EfficientDet. Три варианта YOLO дают вместе с остальными семь завершённых экспериментов. Поля имени и группы оставлены для заполнения.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Задача — детекция: для каждого дефекта нужны и класс, и прямоугольник. В отчёте объяснены подготовка данных, обзор 16 научных источников, обучение, исправления и общая оценка. Результаты относятся к конкретным сохранённым конфигурациям; условия их обучения различались.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Проектный_практикум (1).pdf</a:t>
            </a:r>
          </a:p>
          <a:p xmlns:a="http://schemas.openxmlformats.org/drawingml/2006/main">
            <a:r>
              <a:t>Report_metal_surface_defects.docx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Вначале рассматривался MVTec AD, предназначенный прежде всего для поиска аномалий. Выбран c5data2: металлические поверхности, пять классов и XML-аннотации прямоугольников позволяют решать именно задачу детекции. Сбор на производстве и ручная разметка заново не выполнялись. Разбиение создано конвертером проекта, а не предоставлено автором датасета.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https://www.kaggle.com/datasets/niclinn/c5data2</a:t>
            </a:r>
          </a:p>
          <a:p xmlns:a="http://schemas.openxmlformats.org/drawingml/2006/main">
            <a:r>
              <a:t>https://www.mvtec.com/research-teaching/datasets/mvtec-ad</a:t>
            </a:r>
          </a:p>
          <a:p xmlns:a="http://schemas.openxmlformats.org/drawingml/2006/main">
            <a:r>
              <a:t>code/src/dataset/convert_voc_to_yolo.py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Распределение объектов: deburring 34/6/3; inclusion 243/84/74; rolled_pit 40/4/16; silk_spot 572/114/107; waist_folding 96/25/26 для train/val/test. Для rolled_pit в val только одно изображение. В 1032 из 1075 файлов размер равен 2048×1000. Все изображения содержат дефекты, поэтому отсутствует отдельная оценка ложных тревог на чистой продукции. Точных дубликатов по файлам и пикселям не найдено; близкие кадры не проверялись.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Report_metal_surface_defects.docx, раздел «Набор данных»</a:t>
            </a:r>
          </a:p>
          <a:p xmlns:a="http://schemas.openxmlformats.org/drawingml/2006/main">
            <a:r>
              <a:t>pipeline/*/test_manifest.json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конвертер и запуски были подготовлены по инструкциям переписки с DeepSeek, затем я запускал скрипты и сохранял результаты. XML не содержали подходящего имени класса, поэтому использована папка; waist folding приведено к waist_folding. Разбиение использовало random.shuffle с seed 42 после os.listdir: seed без сохранённого порядка файлов недостаточен для восстановления. Для повторной оценки сохранён текущий manifest. В одной train-метке debur_img_003 ymin=-1 ограничено нулём: YOLO/Faster R-CNN/SSD обучены до исправления, DETR/EfficientDet после него; test не менялся. Для EfficientDet обучение использует YXYX и классы 1–5, для Torchvision XYXY и классы 1–5, для DETR обработку COCO-аннотаций процессором.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code/src/dataset/convert_voc_to_yolo.py</a:t>
            </a:r>
          </a:p>
          <a:p xmlns:a="http://schemas.openxmlformats.org/drawingml/2006/main">
            <a:r>
              <a:t>configs/experiment_provenance.json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Работы Faster R-CNN и YOLO обосновывают сравнение двухэтапного и одноэтапного подходов. SSD добавляет другой механизм опорных рамок. DETR вводит Transformer и сопоставление множества объектов. EfficientDet добавлен как пятое семейство: три YOLO не считаются тремя независимыми архитектурами. FPN и focal loss помогают обсудить масштабы и фон; обзор аугментаций и работа Tabernik объясняют роль малого набора и качества разметки. Полные 16 научных источников и пять технических ресурсов приведены в отчёте.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https://arxiv.org/abs/1506.01497</a:t>
            </a:r>
          </a:p>
          <a:p xmlns:a="http://schemas.openxmlformats.org/drawingml/2006/main">
            <a:r>
              <a:t>https://arxiv.org/abs/1506.02640</a:t>
            </a:r>
          </a:p>
          <a:p xmlns:a="http://schemas.openxmlformats.org/drawingml/2006/main">
            <a:r>
              <a:t>https://arxiv.org/abs/1512.02325</a:t>
            </a:r>
          </a:p>
          <a:p xmlns:a="http://schemas.openxmlformats.org/drawingml/2006/main">
            <a:r>
              <a:t>https://arxiv.org/abs/2005.12872</a:t>
            </a:r>
          </a:p>
          <a:p xmlns:a="http://schemas.openxmlformats.org/drawingml/2006/main">
            <a:r>
              <a:t>https://arxiv.org/abs/1911.09070</a:t>
            </a:r>
          </a:p>
          <a:p xmlns:a="http://schemas.openxmlformats.org/drawingml/2006/main">
            <a:r>
              <a:t>https://doi.org/10.1186/s40537-019-0197-0</a:t>
            </a:r>
          </a:p>
          <a:p xmlns:a="http://schemas.openxmlformats.org/drawingml/2006/main">
            <a:r>
              <a:t>https://arxiv.org/abs/1903.08536</a:t>
            </a:r>
          </a:p>
          <a:p xmlns:a="http://schemas.openxmlformats.org/drawingml/2006/main">
            <a:r>
              <a:t>https://docs.ultralytics.com/models/yolov8/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YOLO: imgsz640, seed42, 50 эпох; в историческом вызове оптимизатор выбирала библиотека. Усиленная аугментация n: mixup0.1, degrees10, mosaic1, fliplr0.5, HSV0.015/0.7/0.4. Faster R-CNN: SGD lr0.005, momentum0.9, wd0.0005. SSD: AdamW lr0.0005, wd0.0001, clip1, weights=None и weights_backbone=None. DETR: AdamW head1e-4/backbone1e-5, wd1e-4, clip0.1. EfficientDet: AdamW head3e-4/backbone3e-5, wd1e-4, clip1; снижение lr в10 раз с восьмой эпохи; AMP=False. Фактический batch1 с accumulation4 даёт четыре изображения на обновление, но не физический batch4 для BatchNorm. Условия не выровнены: сравниваются выполненные конфигурации, а не универсальные свойства архитектур.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configs/experiment_provenance.json</a:t>
            </a:r>
          </a:p>
          <a:p xmlns:a="http://schemas.openxmlformats.org/drawingml/2006/main">
            <a:r>
              <a:t>pipeline/*/training_history.json</a:t>
            </a:r>
          </a:p>
          <a:p xmlns:a="http://schemas.openxmlformats.org/drawingml/2006/main">
            <a:r>
              <a:t>pipeline/yolo_*/training_results_used.csv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Каждая модель экспортирует рамки в исходные координаты. AP использует 101 точку огибающей Precision и не более100 предсказаний на класс/изображение; этот собственный протокол не полностью идентичен COCOeval с crowd, ignore и диапазонами площади. P/R/F1 используют общий порог0.25, IoU0.5. Один истинный объект сопоставляется не более чем одному предсказанию правильного класса. Рабочий порог по test не подбирался. Сохранены конфигурация, среда, SHA256 checkpoint, ground_truth, predictions, metrics и test_manifest. При финальной независимой сверке обучение и новый inference не выполнялись.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code/src/evaluation/</a:t>
            </a:r>
          </a:p>
          <a:p xmlns:a="http://schemas.openxmlformats.org/drawingml/2006/main">
            <a:r>
              <a:t>pipeline/report.json</a:t>
            </a:r>
          </a:p>
          <a:p xmlns:a="http://schemas.openxmlformats.org/drawingml/2006/main">
            <a:r>
              <a:t>pipeline/*/metrics.json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Завершённый запуск — yolo_baseline-3, best.pt. Папки baseline и baseline-2 являются попытками запуска, а не отдельными архитектурами. График содержит реальные train/val компоненты loss из сохранённого CSV. Baseline уже использует штатную аугментацию Ultralytics.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 на слайде — test. График — сохранённая история обучения; разные компоненты loss между семействами напрямую не сравниваются.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yolo_n/plots/learning.png</a:t>
            </a:r>
          </a:p>
          <a:p xmlns:a="http://schemas.openxmlformats.org/drawingml/2006/main">
            <a:r>
              <a:t>yolo_n/metrics.json</a:t>
            </a:r>
          </a:p>
          <a:p xmlns:a="http://schemas.openxmlformats.org/drawingml/2006/main">
            <a:r>
              <a:t>configs/experiment_provenance.json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YOLOv8s соответствует yolo_small. P/R/F1 рассчитаны общим test-оценщиком; значения на графике train/val относятся к истории обучения. Рост n→s улучшил mAP50 и F1, но mAP50–95 снизилась с0.2111 до0.1848. Поэтому нельзя утверждать улучшение всех аспектов локализации.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 на слайде — test. График — сохранённая история обучения; разные компоненты loss между семействами напрямую не сравниваются.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yolo_s/plots/learning.png</a:t>
            </a:r>
          </a:p>
          <a:p xmlns:a="http://schemas.openxmlformats.org/drawingml/2006/main">
            <a:r>
              <a:t>yolo_s/metrics.json</a:t>
            </a:r>
          </a:p>
          <a:p xmlns:a="http://schemas.openxmlformats.org/drawingml/2006/main">
            <a:r>
              <a:t>configs/experiment_provenance.json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Кроме mixup и поворотов заданы fliplr0.5 и HSV0.015/0.7/0.4. Сравнение выполнено с базовой схемой, в которой тоже есть аугментации. Возможное несоответствие преобразований текстуре дефекта — гипотеза: один запуск не отделяет его от случайности и малой поддержки классов.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 на слайде — test. График — сохранённая история обучения; разные компоненты loss между семействами напрямую не сравниваются.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yolo_aug/plots/learning.png</a:t>
            </a:r>
          </a:p>
          <a:p xmlns:a="http://schemas.openxmlformats.org/drawingml/2006/main">
            <a:r>
              <a:t>yolo_aug/metrics.json</a:t>
            </a:r>
          </a:p>
          <a:p xmlns:a="http://schemas.openxmlformats.org/drawingml/2006/main">
            <a:r>
              <a:t>configs/experiment_provenance.json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Веса после последней эпохи Colab. Порог0.25 даёт высокую полноту с большим числомFP. Следующий рабочий порог следует выбирать наval с учётом цены пропусков и ложных тревог. Сохранена только train loss; валидационная линия не добавлена искусственно.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 на слайде — test. График — сохранённая история обучения; разные компоненты loss между семействами напрямую не сравниваются.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faster_rcnn/plots/learning.png</a:t>
            </a:r>
          </a:p>
          <a:p xmlns:a="http://schemas.openxmlformats.org/drawingml/2006/main">
            <a:r>
              <a:t>faster_rcnn/metrics.json</a:t>
            </a:r>
          </a:p>
          <a:p xmlns:a="http://schemas.openxmlformats.org/drawingml/2006/main">
            <a:r>
              <a:t>configs/experiment_provenance.json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weights=None и weights_backbone=None: предобучения нет. Разрешение300×300, малое число эпох и отсутствие переноса могут влиять на результат, но эти причины отдельно не проверены. Для общего GPU-протокола зафиксирован cuDNN deterministic=True; исторический0.023408 и текущий0.035485 получены одними весами при разных настройках и отдельно воспроизведены. В таблице текущий общий режим, а не выбор по лучшему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 на слайде — test. График — сохранённая история обучения; разные компоненты loss между семействами напрямую не сравниваются.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ssd/plots/learning.png</a:t>
            </a:r>
          </a:p>
          <a:p xmlns:a="http://schemas.openxmlformats.org/drawingml/2006/main">
            <a:r>
              <a:t>ssd/metrics.json</a:t>
            </a:r>
          </a:p>
          <a:p xmlns:a="http://schemas.openxmlformats.org/drawingml/2006/main">
            <a:r>
              <a:t>configs/experiment_provenance.json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старом Colab координаты делили на512 независимо от реальных W/H. Использован DetrImageProcessor: COCO targets, согласованный resize, pixel_mask, проверенные нормированные CXCYWH и orig_size. Новая голова на пять классов. Локальное повторное обучение10эпох, bestvalmAP50–95≈0.0256 на8эпохе. Низкий результат относится к короткой адаптации, не доказывает непригодность Transformer.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 на слайде — test. График — сохранённая история обучения; разные компоненты loss между семействами напрямую не сравниваются.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detr/plots/learning.png</a:t>
            </a:r>
          </a:p>
          <a:p xmlns:a="http://schemas.openxmlformats.org/drawingml/2006/main">
            <a:r>
              <a:t>detr/metrics.json</a:t>
            </a:r>
          </a:p>
          <a:p xmlns:a="http://schemas.openxmlformats.org/drawingml/2006/main">
            <a:r>
              <a:t>configs/experiment_provenance.json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tf_efficientdet_d0 в effdet0.4.1. COCO-веса проверены, class_net заменена на5классов. До обучения три backward-проверки безoptimizer.step подтвердили конечные loss/градиенты. YXYX и классы1–5 согласованы; resizepad512. Первая эпоха первой попытки обучилась, но val остановилась на координате234.000015. Все координаты ограничены границами, нулевая площадь удаляется, checkpoint сохраняется доval. Не сохранённую старую эпоху повторили. Успешный run10эпох; bestvalmAP50–95≈0.0762 на10эпохе.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 на слайде — test. График — сохранённая история обучения; разные компоненты loss между семействами напрямую не сравниваются.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efficientdet/plots/learning.png</a:t>
            </a:r>
          </a:p>
          <a:p xmlns:a="http://schemas.openxmlformats.org/drawingml/2006/main">
            <a:r>
              <a:t>efficientdet/metrics.json</a:t>
            </a:r>
          </a:p>
          <a:p xmlns:a="http://schemas.openxmlformats.org/drawingml/2006/main">
            <a:r>
              <a:t>configs/experiment_provenance.json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строки относятся к одной выборке162изображения/226объектов. P/R/F1 —micro, confidence0.25, IoU0.5. В сравнении отличаются бюджет обучения, предобучение, разрешение и выбор checkpoint. Это ранжирование выполненных экспериментов. Округление до4знаков применяется только при отображении; исходные JSON содержат полную точность.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pipeline/*/metrics.json</a:t>
            </a:r>
          </a:p>
          <a:p xmlns:a="http://schemas.openxmlformats.org/drawingml/2006/main">
            <a:r>
              <a:t>Report_metal_surface_defects.docx, таблица7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Редактируемая диаграмма построена из metrics.json; значения округлены до шести десятичных знаков, подписи — до трёх. Исходные JSON сохраняют полную точность. Среднее AP по классам и дополнительное усреднение по IoU имеют разные смысловые акценты. Выбор модели должен учитывать требования контроля и цену ошибок.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pipeline/*/metrics.json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Показатели AP50 каждого класса взяты из metrics.json с полной точностью. Каждый класс имеет равный вес в mAP независимо от числа объектов. Faster R-CNN лучше по AP50 inclusion и silk_spot; YOLOv8n лучше по rolled_pit и waist_folding среди этих запусков. Малое число объектов редких классов в test ограничивает надёжность ранжирования.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pipeline/*/metrics.json</a:t>
            </a:r>
          </a:p>
          <a:p xmlns:a="http://schemas.openxmlformats.org/drawingml/2006/main">
            <a:r>
              <a:t>Report_metal_surface_defects.docx, рисунок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PR-кривые строятся по ранжированным test-предсказаниям и монотонной огибающей Precision. Порог по этим test-кривым не настраивался. Матрица сначала сохраняет сопоставления правильного класса общего оценщика, затем ищет ошибки класса среди оставшихся рамок с IoU ≥ 0,5. На диагонали 120 TP; два inclusion перепутаны с rolled_pit и silk_spot. Остались 93 несопоставленных предсказания и 104 истинных объекта; вместе с двумя ошибками класса это даёт 95 FP и 106 FN. Столбец фона включает также дубликаты и недостаточный IoU. Ячейка фон–фон не определяется.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pipeline/yolo_s/metrics.json</a:t>
            </a:r>
          </a:p>
          <a:p xmlns:a="http://schemas.openxmlformats.org/drawingml/2006/main">
            <a:r>
              <a:t>Report_metal_surface_defects.docx, рисунки 8–9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Использованы сохранённые примеры test YOLOv8s: первый файл каждого класса по порядку manifest. Они не выбраны случайно и не заменяют общую оценку. Confidence ≥ 0,25. Inclusion иллюстрирует малые дефекты; rolled_pit и silk_spot — различие границ. Красная рамка сама по себе не гарантирует TP: необходимы правильный класс и IoU ≥ 0,5.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pipeline/yolo_s/examples/</a:t>
            </a:r>
          </a:p>
          <a:p xmlns:a="http://schemas.openxmlformats.org/drawingml/2006/main">
            <a:r>
              <a:t>Report_metal_surface_defects.docx, приложение 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Пропуск waist_folding сохранён, несмотря на высокую AP50 класса в целом: наглядный пример и средняя метрика характеризуют разные вещи. У deburring частичное покрытие рамки может дать недостаточный IoU. На всех примерах зелёный — GT, красный — prediction; отсутствие красной рамки означает отсутствие принятого обнаружения при пороге 0,25.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pipeline/yolo_s/examples/</a:t>
            </a:r>
          </a:p>
          <a:p xmlns:a="http://schemas.openxmlformats.org/drawingml/2006/main">
            <a:r>
              <a:t>Report_metal_surface_defects.docx, приложение 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Последовательность работы: выбор данных → инструкции DeepSeek и первоначальные запуски → сохранение весов и историй → проверка происхождения → исправленный DETR → EfficientDet как пятое семейство → единая оценка → повторный пересчёт → отчёт и презентация. Старый DETR исключён, завершённые YOLO определены по фактическим папкам. У EfficientDet 17 из 21 478 координат различались максимум на 0,000030517578 px; классы, confidence, число и порядок рамок, а также метрики совпали. Допуск геометрии 0,0001 px не меняет критерии IoU оценки.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configs/runtime_protocol.json</a:t>
            </a:r>
          </a:p>
          <a:p xmlns:a="http://schemas.openxmlformats.org/drawingml/2006/main">
            <a:r>
              <a:t>configs/experiment_provenance.json</a:t>
            </a:r>
          </a:p>
          <a:p xmlns:a="http://schemas.openxmlformats.org/drawingml/2006/main">
            <a:r>
              <a:t>pipeline/report.json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Выбор YOLOv8s относится к балансу Precision–Recall при пороге 0,25 и mAP50 в сохранённых экспериментах. Решение ещё требует улучшения для автономного промышленного контроля: 106 из 226 объектов остались FN. Ограничения: 50 и 10 эпох, SSD с нуля, разные разрешения и правила выбора весов, мало объектов редких классов, отсутствие независимого test, чистых изображений и повторных seed. FPS не измерялся; время экспорта не означает скорость inference. Порог следует выбирать на val, финальную проверку проводить на новых данных. Полный обзор 16 научных источников и обоснования приведены в отчёте.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материалы:</a:t>
            </a:r>
          </a:p>
          <a:p xmlns:a="http://schemas.openxmlformats.org/drawingml/2006/main">
            <a:r>
              <a:t>Report_metal_surface_defects.docx, разделы «Обсуждение» и «Заключение»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b6e4480bd4b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af677bc3441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0f4f000d044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202fc2182043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a52e7815a4c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3c2375d5d442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26ae86da049e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a0123c1b34a5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13f074f6f457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e873db33d415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a166a206f4367" /></Relationships>
</file>

<file path=ppt/slideLayouts/slideLayout1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BEEF74E-FC2E-20FE-7BB6-06CEB684A2E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5FCA8F2D-7871-C69F-0E7E-5B0C24DBD2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Образец подзаголовка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59DB323B-1764-51D4-CD6A-55E668BFA1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06CF385-AE6E-4F43-BD39-8CF2E0A7E47F}" type="datetimeFigureOut">
              <a:t>10.06.2026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014262F-71CF-1927-BC1E-4D7FDF148D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D7FB177-1B2E-BD36-B46B-E948EFD317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BD4712E-B55A-4FC5-AB3B-921CDA55A2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6DC8A86-FD1D-72B6-81AA-2C4B2B642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051B0872-5502-1B62-52C5-14567FD58E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43A3C9DF-30A4-7734-3752-015F1FD59F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06CF385-AE6E-4F43-BD39-8CF2E0A7E47F}" type="datetimeFigureOut">
              <a:t>10.06.2026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5F171B9-DEFE-8BB4-B3A9-DED58462D7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04D4600-B253-B189-685D-5F8F05925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BD4712E-B55A-4FC5-AB3B-921CDA55A2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14C21C4-B7F1-1C85-F702-6B6BD7B5DC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4A668B9-06E9-E33A-A99C-0C52D448BA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6D4BFB58-B45F-1641-C166-478854E14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06CF385-AE6E-4F43-BD39-8CF2E0A7E47F}" type="datetimeFigureOut">
              <a:t>10.06.2026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4BA73A5-EB51-DA68-CFF8-413CC7D223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16351DD1-DFD0-EADB-23E5-7139DE84CC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BD4712E-B55A-4FC5-AB3B-921CDA55A2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F2403C5-626D-1303-CD4D-E10BF4FF9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70163BB0-57F9-6DDA-4390-57D8851BC4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28676F93-2630-FC6C-C751-A3C00D4EA93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B41ADEA7-11B2-30DA-9048-DBB647F04E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06CF385-AE6E-4F43-BD39-8CF2E0A7E47F}" type="datetimeFigureOut">
              <a:t>10.06.2026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FD0534AB-0563-CB80-FBAF-3E0804051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8D73CA59-853B-9E18-4907-A28468AE24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BD4712E-B55A-4FC5-AB3B-921CDA55A2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018A73C-16B1-8ACA-6BEF-111F513FAF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BBEC744-1593-055D-B015-502C5C267F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D22B816A-65DD-027F-95D2-63CACB097F3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FABCA68F-A42E-8155-5549-4A6E416EC9D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EFBBD3EF-4385-DD52-B6CE-8C2D7E192D6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Дата 6">
            <a:extLst xmlns:a="http://schemas.openxmlformats.org/drawingml/2006/main">
              <a:ext uri="{FF2B5EF4-FFF2-40B4-BE49-F238E27FC236}">
                <a16:creationId xmlns:a16="http://schemas.microsoft.com/office/drawing/2014/main" id="{8DF9DAA1-8A0E-7926-6613-BBD20D9F8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06CF385-AE6E-4F43-BD39-8CF2E0A7E47F}" type="datetimeFigureOut">
              <a:t>10.06.2026</a:t>
            </a:fld>
            <a:endParaRPr/>
          </a:p>
        </p:txBody>
      </p:sp>
      <p:sp>
        <p:nvSpPr>
          <p:cNvPr id="8" name="Нижний колонтитул 7">
            <a:extLst xmlns:a="http://schemas.openxmlformats.org/drawingml/2006/main">
              <a:ext uri="{FF2B5EF4-FFF2-40B4-BE49-F238E27FC236}">
                <a16:creationId xmlns:a16="http://schemas.microsoft.com/office/drawing/2014/main" id="{88205044-199B-7BFD-D59E-4FDCBF584D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Номер слайда 8">
            <a:extLst xmlns:a="http://schemas.openxmlformats.org/drawingml/2006/main">
              <a:ext uri="{FF2B5EF4-FFF2-40B4-BE49-F238E27FC236}">
                <a16:creationId xmlns:a16="http://schemas.microsoft.com/office/drawing/2014/main" id="{9A0ED7BB-592A-8210-8844-C3C26E71EA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BD4712E-B55A-4FC5-AB3B-921CDA55A2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2972082-02AC-FD6A-1CD3-B42C46D21F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Дата 2">
            <a:extLst xmlns:a="http://schemas.openxmlformats.org/drawingml/2006/main">
              <a:ext uri="{FF2B5EF4-FFF2-40B4-BE49-F238E27FC236}">
                <a16:creationId xmlns:a16="http://schemas.microsoft.com/office/drawing/2014/main" id="{E3065E27-D74C-A348-C8EA-2441B5948A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06CF385-AE6E-4F43-BD39-8CF2E0A7E47F}" type="datetimeFigureOut">
              <a:t>10.06.2026</a:t>
            </a:fld>
            <a:endParaRPr/>
          </a:p>
        </p:txBody>
      </p:sp>
      <p:sp>
        <p:nvSpPr>
          <p:cNvPr id="4" name="Нижний колонтитул 3">
            <a:extLst xmlns:a="http://schemas.openxmlformats.org/drawingml/2006/main">
              <a:ext uri="{FF2B5EF4-FFF2-40B4-BE49-F238E27FC236}">
                <a16:creationId xmlns:a16="http://schemas.microsoft.com/office/drawing/2014/main" id="{D47C4C77-1D23-1CF0-2B76-CB934A9B44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Номер слайда 4">
            <a:extLst xmlns:a="http://schemas.openxmlformats.org/drawingml/2006/main">
              <a:ext uri="{FF2B5EF4-FFF2-40B4-BE49-F238E27FC236}">
                <a16:creationId xmlns:a16="http://schemas.microsoft.com/office/drawing/2014/main" id="{95B5D56E-AAAD-EDF8-970D-113D73FCEC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BD4712E-B55A-4FC5-AB3B-921CDA55A2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ата 1">
            <a:extLst xmlns:a="http://schemas.openxmlformats.org/drawingml/2006/main">
              <a:ext uri="{FF2B5EF4-FFF2-40B4-BE49-F238E27FC236}">
                <a16:creationId xmlns:a16="http://schemas.microsoft.com/office/drawing/2014/main" id="{88137FD6-8770-2E8A-CEB7-1A5F113B78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06CF385-AE6E-4F43-BD39-8CF2E0A7E47F}" type="datetimeFigureOut">
              <a:t>10.06.2026</a:t>
            </a:fld>
            <a:endParaRPr/>
          </a:p>
        </p:txBody>
      </p:sp>
      <p:sp>
        <p:nvSpPr>
          <p:cNvPr id="3" name="Нижний колонтитул 2">
            <a:extLst xmlns:a="http://schemas.openxmlformats.org/drawingml/2006/main">
              <a:ext uri="{FF2B5EF4-FFF2-40B4-BE49-F238E27FC236}">
                <a16:creationId xmlns:a16="http://schemas.microsoft.com/office/drawing/2014/main" id="{2B2CDB10-824B-4F27-BF88-4D21F8FAC9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Номер слайда 3">
            <a:extLst xmlns:a="http://schemas.openxmlformats.org/drawingml/2006/main">
              <a:ext uri="{FF2B5EF4-FFF2-40B4-BE49-F238E27FC236}">
                <a16:creationId xmlns:a16="http://schemas.microsoft.com/office/drawing/2014/main" id="{9713129C-5754-1F40-CA69-A086B33E4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BD4712E-B55A-4FC5-AB3B-921CDA55A2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F695067-307D-5314-89CD-041A2AA43A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411DA969-07C4-3ABD-43BB-CB4845085D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B354C081-C743-1DD4-8B46-F3641495D2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89649C5B-BDD5-67D7-8FA7-FA8E28EC3A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06CF385-AE6E-4F43-BD39-8CF2E0A7E47F}" type="datetimeFigureOut">
              <a:t>10.06.2026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1A7B67A8-AD0E-D5E2-B3F7-719645ADB8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E1B18910-F374-CDD2-37DF-9EADB31488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BD4712E-B55A-4FC5-AB3B-921CDA55A2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DBD50D5-5461-209C-98A5-DB99C00BB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25D74B3F-D691-B41D-1518-B91A21D3417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EFBDA6-C8BD-7648-0247-C8C04BE48A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78E16F8E-32E8-BF43-FF2E-2F5ABE4704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06CF385-AE6E-4F43-BD39-8CF2E0A7E47F}" type="datetimeFigureOut">
              <a:t>10.06.2026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871F31CE-AFC7-C025-2CE5-3C29B6A2F9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6683098C-A44C-4DDA-2715-4BB86CFBD0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BD4712E-B55A-4FC5-AB3B-921CDA55A2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9305B2F-9587-4857-D076-AAD90C6BC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6975DAF7-DD77-7390-D1B2-5EE1E6E662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404F88EC-8E5E-6DCA-387B-DE93760A87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06CF385-AE6E-4F43-BD39-8CF2E0A7E47F}" type="datetimeFigureOut">
              <a:t>10.06.2026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980FA6F-BACA-2DFE-D86C-987AD0E4EB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0AC4AB4-8BEE-8D93-F3AD-650CB0F428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BD4712E-B55A-4FC5-AB3B-921CDA55A2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Вертикальный 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09AA20C-9F22-9B4F-6AC7-30D4266065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016190CB-504C-82A9-3715-52BAC2B693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B0000F43-8374-E434-5DF8-43624F71FA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06CF385-AE6E-4F43-BD39-8CF2E0A7E47F}" type="datetimeFigureOut">
              <a:t>10.06.2026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3DC66565-7A91-A317-D8DD-5A838B7362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C272D03-2B90-4B7E-9C5A-357664E5F1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BD4712E-B55A-4FC5-AB3B-921CDA55A2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88342b7fb94190" /><Relationship Type="http://schemas.openxmlformats.org/officeDocument/2006/relationships/slideLayout" Target="/ppt/slideLayouts/slideLayout1.xml" Id="R1fb8f17b185a4c12" /><Relationship Type="http://schemas.openxmlformats.org/officeDocument/2006/relationships/slideLayout" Target="/ppt/slideLayouts/slideLayout2.xml" Id="Rc499a8668738467b" /><Relationship Type="http://schemas.openxmlformats.org/officeDocument/2006/relationships/slideLayout" Target="/ppt/slideLayouts/slideLayout3.xml" Id="R2673e901d5124d09" /><Relationship Type="http://schemas.openxmlformats.org/officeDocument/2006/relationships/slideLayout" Target="/ppt/slideLayouts/slideLayout4.xml" Id="Rae4a40c288a545be" /><Relationship Type="http://schemas.openxmlformats.org/officeDocument/2006/relationships/slideLayout" Target="/ppt/slideLayouts/slideLayout5.xml" Id="Ra771b77249b149d0" /><Relationship Type="http://schemas.openxmlformats.org/officeDocument/2006/relationships/slideLayout" Target="/ppt/slideLayouts/slideLayout6.xml" Id="R6066dfd848344b55" /><Relationship Type="http://schemas.openxmlformats.org/officeDocument/2006/relationships/slideLayout" Target="/ppt/slideLayouts/slideLayout7.xml" Id="R6f402c75669048e2" /><Relationship Type="http://schemas.openxmlformats.org/officeDocument/2006/relationships/slideLayout" Target="/ppt/slideLayouts/slideLayout8.xml" Id="R5fc7aaa6fcc74109" /><Relationship Type="http://schemas.openxmlformats.org/officeDocument/2006/relationships/slideLayout" Target="/ppt/slideLayouts/slideLayout9.xml" Id="Re9e95ef0e401407f" /><Relationship Type="http://schemas.openxmlformats.org/officeDocument/2006/relationships/slideLayout" Target="/ppt/slideLayouts/slideLayout10.xml" Id="R3234e4cb9c21480c" /><Relationship Type="http://schemas.openxmlformats.org/officeDocument/2006/relationships/slideLayout" Target="/ppt/slideLayouts/slideLayout11.xml" Id="R43b97c773c424d4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accent2">
            <a:lumMod val="75000"/>
            <a:alpha val="84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E20D0985-A425-5171-D72E-DC6F20DBB9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6A95A004-A764-F018-4D1F-4E13107804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E8204105-ED2D-521E-1F65-B869EAC198E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06CF385-AE6E-4F43-BD39-8CF2E0A7E47F}" type="datetimeFigureOut">
              <a:t>10.06.2026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136A33C-FD2E-2514-73BE-21DAFB48D1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6B22F9D-A8B4-9C81-4122-057DD2A7D02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1BD4712E-B55A-4FC5-AB3B-921CDA55A2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b8f17b185a4c12"/>
    <p:sldLayoutId xmlns:r="http://schemas.openxmlformats.org/officeDocument/2006/relationships" id="2147483650" r:id="Rc499a8668738467b"/>
    <p:sldLayoutId xmlns:r="http://schemas.openxmlformats.org/officeDocument/2006/relationships" id="2147483651" r:id="R2673e901d5124d09"/>
    <p:sldLayoutId xmlns:r="http://schemas.openxmlformats.org/officeDocument/2006/relationships" id="2147483652" r:id="Rae4a40c288a545be"/>
    <p:sldLayoutId xmlns:r="http://schemas.openxmlformats.org/officeDocument/2006/relationships" id="2147483653" r:id="Ra771b77249b149d0"/>
    <p:sldLayoutId xmlns:r="http://schemas.openxmlformats.org/officeDocument/2006/relationships" id="2147483654" r:id="R6066dfd848344b55"/>
    <p:sldLayoutId xmlns:r="http://schemas.openxmlformats.org/officeDocument/2006/relationships" id="2147483655" r:id="R6f402c75669048e2"/>
    <p:sldLayoutId xmlns:r="http://schemas.openxmlformats.org/officeDocument/2006/relationships" id="2147483656" r:id="R5fc7aaa6fcc74109"/>
    <p:sldLayoutId xmlns:r="http://schemas.openxmlformats.org/officeDocument/2006/relationships" id="2147483657" r:id="Re9e95ef0e401407f"/>
    <p:sldLayoutId xmlns:r="http://schemas.openxmlformats.org/officeDocument/2006/relationships" id="2147483658" r:id="R3234e4cb9c21480c"/>
    <p:sldLayoutId xmlns:r="http://schemas.openxmlformats.org/officeDocument/2006/relationships" id="2147483659" r:id="R43b97c773c424d4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e917da7e545d0" /><Relationship Type="http://schemas.openxmlformats.org/officeDocument/2006/relationships/notesSlide" Target="/ppt/notesSlides/notesSlide1.xml" Id="R74aaee9e3b6141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9e3b144984c65" /><Relationship Type="http://schemas.openxmlformats.org/officeDocument/2006/relationships/image" Target="/ppt/media/image.jpeg" Id="R7dbe84a2e0ff4304" /><Relationship Type="http://schemas.openxmlformats.org/officeDocument/2006/relationships/notesSlide" Target="/ppt/notesSlides/notesSlide2.xml" Id="R37ca1efe2def4e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ae8e53449749f4" /><Relationship Type="http://schemas.openxmlformats.org/officeDocument/2006/relationships/image" Target="/ppt/media/image.png" Id="Rc646d02cbac846f1" /><Relationship Type="http://schemas.openxmlformats.org/officeDocument/2006/relationships/notesSlide" Target="/ppt/notesSlides/notesSlide3.xml" Id="Rc727210772c347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f1edcd705847a7" /><Relationship Type="http://schemas.openxmlformats.org/officeDocument/2006/relationships/image" Target="/ppt/media/image2.png" Id="Rf44c341f2d3d4684" /><Relationship Type="http://schemas.openxmlformats.org/officeDocument/2006/relationships/notesSlide" Target="/ppt/notesSlides/notesSlide4.xml" Id="Rfee45392623744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fafe26dd084b18" /><Relationship Type="http://schemas.openxmlformats.org/officeDocument/2006/relationships/notesSlide" Target="/ppt/notesSlides/notesSlide5.xml" Id="R0cd921d80e1a42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ec07386199408b" /><Relationship Type="http://schemas.openxmlformats.org/officeDocument/2006/relationships/notesSlide" Target="/ppt/notesSlides/notesSlide6.xml" Id="R8541610b2d1e4f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d5d13b475746e3" /><Relationship Type="http://schemas.openxmlformats.org/officeDocument/2006/relationships/notesSlide" Target="/ppt/notesSlides/notesSlide7.xml" Id="R742d7c5abb0148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2fac306b02438c" /><Relationship Type="http://schemas.openxmlformats.org/officeDocument/2006/relationships/notesSlide" Target="/ppt/notesSlides/notesSlide8.xml" Id="R3866d891192243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1cf484e5d8487e" /><Relationship Type="http://schemas.openxmlformats.org/officeDocument/2006/relationships/image" Target="/ppt/media/image3.png" Id="R485c9933a2f04359" /><Relationship Type="http://schemas.openxmlformats.org/officeDocument/2006/relationships/notesSlide" Target="/ppt/notesSlides/notesSlide9.xml" Id="R5921cb78573545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7406b94aa942dd" /><Relationship Type="http://schemas.openxmlformats.org/officeDocument/2006/relationships/image" Target="/ppt/media/image4.png" Id="Rc74d495950c24690" /><Relationship Type="http://schemas.openxmlformats.org/officeDocument/2006/relationships/notesSlide" Target="/ppt/notesSlides/notesSlide10.xml" Id="R348d9a6ad8ea48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f82f9314704896" /><Relationship Type="http://schemas.openxmlformats.org/officeDocument/2006/relationships/image" Target="/ppt/media/image5.png" Id="Rf3f6a9b04e0a47db" /><Relationship Type="http://schemas.openxmlformats.org/officeDocument/2006/relationships/notesSlide" Target="/ppt/notesSlides/notesSlide11.xml" Id="R642b0d97682e46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ccec70f8864ab9" /><Relationship Type="http://schemas.openxmlformats.org/officeDocument/2006/relationships/image" Target="/ppt/media/image6.png" Id="R168a2bd36f4944fc" /><Relationship Type="http://schemas.openxmlformats.org/officeDocument/2006/relationships/notesSlide" Target="/ppt/notesSlides/notesSlide12.xml" Id="R3e334c42b29041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e9a820b7274132" /><Relationship Type="http://schemas.openxmlformats.org/officeDocument/2006/relationships/image" Target="/ppt/media/image7.png" Id="Re24861db2f15453a" /><Relationship Type="http://schemas.openxmlformats.org/officeDocument/2006/relationships/notesSlide" Target="/ppt/notesSlides/notesSlide13.xml" Id="R226f7bc642d744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7c50ceceee482d" /><Relationship Type="http://schemas.openxmlformats.org/officeDocument/2006/relationships/image" Target="/ppt/media/image8.png" Id="R8634a095bdf94a4a" /><Relationship Type="http://schemas.openxmlformats.org/officeDocument/2006/relationships/notesSlide" Target="/ppt/notesSlides/notesSlide14.xml" Id="R28870bf018c949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dabe5abed545dd" /><Relationship Type="http://schemas.openxmlformats.org/officeDocument/2006/relationships/image" Target="/ppt/media/image9.png" Id="R238745a5abde4c83" /><Relationship Type="http://schemas.openxmlformats.org/officeDocument/2006/relationships/notesSlide" Target="/ppt/notesSlides/notesSlide15.xml" Id="Re1299f0f152849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e5fb1310ba40df" /><Relationship Type="http://schemas.openxmlformats.org/officeDocument/2006/relationships/notesSlide" Target="/ppt/notesSlides/notesSlide16.xml" Id="Rda7be5620cd440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770c8216d9444f" /><Relationship Type="http://schemas.openxmlformats.org/officeDocument/2006/relationships/chart" Target="/ppt/slides/charts/chart1.xml" Id="Ra869734c2e404b0e" /><Relationship Type="http://schemas.openxmlformats.org/officeDocument/2006/relationships/notesSlide" Target="/ppt/notesSlides/notesSlide17.xml" Id="R821579b259e2408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15c3933c28437d" /><Relationship Type="http://schemas.openxmlformats.org/officeDocument/2006/relationships/image" Target="/ppt/media/image10.png" Id="R32354d64aa09438d" /><Relationship Type="http://schemas.openxmlformats.org/officeDocument/2006/relationships/notesSlide" Target="/ppt/notesSlides/notesSlide18.xml" Id="R8f8f2f23970a4d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7f5e78a6114688" /><Relationship Type="http://schemas.openxmlformats.org/officeDocument/2006/relationships/image" Target="/ppt/media/image11.png" Id="R6e0eceaff21a4508" /><Relationship Type="http://schemas.openxmlformats.org/officeDocument/2006/relationships/image" Target="/ppt/media/image12.png" Id="Rb23834562c274377" /><Relationship Type="http://schemas.openxmlformats.org/officeDocument/2006/relationships/notesSlide" Target="/ppt/notesSlides/notesSlide19.xml" Id="Rd8b42a8fd7eb4c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9af22a7e28433c" /><Relationship Type="http://schemas.openxmlformats.org/officeDocument/2006/relationships/image" Target="/ppt/media/image2.jpeg" Id="R673e5c66ac1e40be" /><Relationship Type="http://schemas.openxmlformats.org/officeDocument/2006/relationships/image" Target="/ppt/media/image3.jpeg" Id="R7cf0102b38f94812" /><Relationship Type="http://schemas.openxmlformats.org/officeDocument/2006/relationships/image" Target="/ppt/media/image4.jpeg" Id="R55487ca2257a497e" /><Relationship Type="http://schemas.openxmlformats.org/officeDocument/2006/relationships/notesSlide" Target="/ppt/notesSlides/notesSlide20.xml" Id="Rf470fac12b14412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aa355b5a044444" /><Relationship Type="http://schemas.openxmlformats.org/officeDocument/2006/relationships/image" Target="/ppt/media/image5.jpeg" Id="Ref3eef0f60b44ffa" /><Relationship Type="http://schemas.openxmlformats.org/officeDocument/2006/relationships/image" Target="/ppt/media/image6.jpeg" Id="R27a75a65f34e4708" /><Relationship Type="http://schemas.openxmlformats.org/officeDocument/2006/relationships/notesSlide" Target="/ppt/notesSlides/notesSlide21.xml" Id="R9f981a3adb2a48b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995b1586d34286" /><Relationship Type="http://schemas.openxmlformats.org/officeDocument/2006/relationships/notesSlide" Target="/ppt/notesSlides/notesSlide22.xml" Id="R1fc63f444ed041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afa73ae1b74517" /><Relationship Type="http://schemas.openxmlformats.org/officeDocument/2006/relationships/notesSlide" Target="/ppt/notesSlides/notesSlide23.xml" Id="R858af16b2be444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92929"/>
                </a:solidFill>
                <a:latin typeface="Aptos Black"/>
                <a:ea typeface="Aptos Black"/>
                <a:cs typeface="Aptos Black"/>
              </a:rPr>
              <a:t>mAP на тестовой выборке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292929"/>
              </a:solidFill>
              <a:latin typeface="Aptos Black"/>
              <a:ea typeface="Aptos Black"/>
              <a:cs typeface="Aptos Black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mAP50</c:v>
          </c:tx>
          <c:spPr>
            <a:solidFill xmlns:a="http://schemas.openxmlformats.org/drawingml/2006/main">
              <a:srgbClr val="225C83"/>
            </a:solidFill>
          </c:spPr>
          <c:cat>
            <c:strRef>
              <c:f>'Chart Data'!$A$2:$A$8</c:f>
              <c:strCache>
                <c:ptCount val="7"/>
                <c:pt idx="0">
                  <c:v>YOLOv8n</c:v>
                </c:pt>
                <c:pt idx="1">
                  <c:v>YOLOv8s</c:v>
                </c:pt>
                <c:pt idx="2">
                  <c:v>YOLOv8n aug</c:v>
                </c:pt>
                <c:pt idx="3">
                  <c:v>Faster R-CNN</c:v>
                </c:pt>
                <c:pt idx="4">
                  <c:v>SSD300 VGG16</c:v>
                </c:pt>
                <c:pt idx="5">
                  <c:v>DETR ResNet50</c:v>
                </c:pt>
                <c:pt idx="6">
                  <c:v>EfficientDet D0</c:v>
                </c:pt>
              </c:strCache>
            </c:str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0.49914</c:v>
                </c:pt>
                <c:pt idx="1">
                  <c:v>0.515729</c:v>
                </c:pt>
                <c:pt idx="2">
                  <c:v>0.424998</c:v>
                </c:pt>
                <c:pt idx="3">
                  <c:v>0.483983</c:v>
                </c:pt>
                <c:pt idx="4">
                  <c:v>0.035485</c:v>
                </c:pt>
                <c:pt idx="5">
                  <c:v>0.065374</c:v>
                </c:pt>
                <c:pt idx="6">
                  <c:v>0.207798</c:v>
                </c:pt>
              </c:numCache>
            </c:numRef>
          </c:val>
        </c:ser>
        <c:ser>
          <c:idx val="1"/>
          <c:order val="1"/>
          <c:tx>
            <c:v>mAP50–95</c:v>
          </c:tx>
          <c:spPr>
            <a:solidFill xmlns:a="http://schemas.openxmlformats.org/drawingml/2006/main">
              <a:srgbClr val="B9872E"/>
            </a:solidFill>
          </c:spPr>
          <c:cat>
            <c:strRef>
              <c:f>'Chart Data'!$C$2:$C$8</c:f>
              <c:strCache>
                <c:ptCount val="7"/>
                <c:pt idx="0">
                  <c:v>YOLOv8n</c:v>
                </c:pt>
                <c:pt idx="1">
                  <c:v>YOLOv8s</c:v>
                </c:pt>
                <c:pt idx="2">
                  <c:v>YOLOv8n aug</c:v>
                </c:pt>
                <c:pt idx="3">
                  <c:v>Faster R-CNN</c:v>
                </c:pt>
                <c:pt idx="4">
                  <c:v>SSD300 VGG16</c:v>
                </c:pt>
                <c:pt idx="5">
                  <c:v>DETR ResNet50</c:v>
                </c:pt>
                <c:pt idx="6">
                  <c:v>EfficientDet D0</c:v>
                </c:pt>
              </c:strCache>
            </c:strRef>
          </c:cat>
          <c:val>
            <c:numRef>
              <c:f>'Chart Data'!$D$2:$D$8</c:f>
              <c:numCache>
                <c:formatCode>0.0</c:formatCode>
                <c:ptCount val="7"/>
                <c:pt idx="0">
                  <c:v>0.211133</c:v>
                </c:pt>
                <c:pt idx="1">
                  <c:v>0.184828</c:v>
                </c:pt>
                <c:pt idx="2">
                  <c:v>0.179105</c:v>
                </c:pt>
                <c:pt idx="3">
                  <c:v>0.20603</c:v>
                </c:pt>
                <c:pt idx="4">
                  <c:v>0.011158</c:v>
                </c:pt>
                <c:pt idx="5">
                  <c:v>0.028726</c:v>
                </c:pt>
                <c:pt idx="6">
                  <c:v>0.073084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92929"/>
                  </a:solidFill>
                  <a:latin typeface="Aptos Black"/>
                  <a:ea typeface="Aptos Black"/>
                  <a:cs typeface="Aptos Black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929"/>
                </a:solidFill>
                <a:latin typeface="Aptos Black"/>
                <a:ea typeface="Aptos Black"/>
                <a:cs typeface="Aptos Black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6E6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92929"/>
                </a:solidFill>
                <a:latin typeface="Aptos Black"/>
                <a:ea typeface="Aptos Black"/>
                <a:cs typeface="Aptos Black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92929"/>
              </a:solidFill>
              <a:latin typeface="Aptos Black"/>
              <a:ea typeface="Aptos Black"/>
              <a:cs typeface="Aptos Black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Проект по теме:">
            <a:extLst xmlns:a="http://schemas.openxmlformats.org/drawingml/2006/main">
              <a:ext uri="{FF2B5EF4-FFF2-40B4-BE49-F238E27FC236}">
                <a16:creationId xmlns:a16="http://schemas.microsoft.com/office/drawing/2014/main" id="{39AE223F-2588-4FA8-851D-81DD93F8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57350"/>
            <a:ext cx="9144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 по теме: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обнаружение дефектов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металлической поверхности</a:t>
            </a:r>
          </a:p>
        </p:txBody>
      </p:sp>
      <p:sp>
        <p:nvSpPr>
          <p:cNvPr id="2" name="5 семейств моделей · 7 экспериментов">
            <a:extLst xmlns:a="http://schemas.openxmlformats.org/drawingml/2006/main">
              <a:ext uri="{FF2B5EF4-FFF2-40B4-BE49-F238E27FC236}">
                <a16:creationId xmlns:a16="http://schemas.microsoft.com/office/drawing/2014/main" id="{3D4ABD12-C92B-4326-9757-97AF523B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1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5 семейств моделей · 7 экспериментов</a:t>
            </a:r>
          </a:p>
        </p:txBody>
      </p:sp>
      <p:sp>
        <p:nvSpPr>
          <p:cNvPr id="3" name="Выполнил: __________________">
            <a:extLst xmlns:a="http://schemas.openxmlformats.org/drawingml/2006/main">
              <a:ext uri="{FF2B5EF4-FFF2-40B4-BE49-F238E27FC236}">
                <a16:creationId xmlns:a16="http://schemas.microsoft.com/office/drawing/2014/main" id="{E32B4B19-6005-4849-BE8A-F01A0E9C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57700"/>
            <a:ext cx="9144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4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24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4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Выполнил: __________________</a:t>
            </a:r>
          </a:p>
          <a:p xmlns:a="http://schemas.openxmlformats.org/drawingml/2006/main">
            <a:pPr algn="r">
              <a:lnSpc>
                <a:spcPct val="110000"/>
              </a:lnSpc>
              <a:buNone/>
              <a:defRPr sz="24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4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Группа: 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9308610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D8EE5D2A-7BA1-42ED-A16C-EF3269D0A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e84a2e0ff4304"/>
          <a:srcRect xmlns:a="http://schemas.openxmlformats.org/drawingml/2006/main" l="25816" t="0" r="243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62650" cy="6858000"/>
          </a:xfrm>
        </p:spPr>
      </p:pic>
      <p:sp>
        <p:nvSpPr>
          <p:cNvPr id="6" name="Цель работы">
            <a:extLst xmlns:a="http://schemas.openxmlformats.org/drawingml/2006/main">
              <a:ext uri="{FF2B5EF4-FFF2-40B4-BE49-F238E27FC236}">
                <a16:creationId xmlns:a16="http://schemas.microsoft.com/office/drawing/2014/main" id="{08D51E44-C9C8-4E6E-B15B-C860E8E8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52550"/>
            <a:ext cx="5238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4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4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Цель работы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4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4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Обучить модели пяти семейств находить и классифицировать дефекты металлической поверхности.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4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4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Сравнить семь экспериментов на общей test-выборке и проанализировать ошибки.</a:t>
            </a:r>
          </a:p>
        </p:txBody>
      </p:sp>
    </p:spTree>
    <p:extLst>
      <p:ext uri="{BB962C8B-B14F-4D97-AF65-F5344CB8AC3E}">
        <p14:creationId xmlns:p14="http://schemas.microsoft.com/office/powerpoint/2010/main" val="3077375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36AAB1D-883D-438B-9B5B-61DDA37B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Набор данных: c5data2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CD604C5B-02DA-4DEE-8F99-95F91729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38089052-6254-4E83-B157-DAA2DA36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03</a:t>
            </a:r>
          </a:p>
        </p:txBody>
      </p:sp>
      <p:sp>
        <p:nvSpPr>
          <p:cNvPr id="4" name="1 075 изображений">
            <a:extLst xmlns:a="http://schemas.openxmlformats.org/drawingml/2006/main">
              <a:ext uri="{FF2B5EF4-FFF2-40B4-BE49-F238E27FC236}">
                <a16:creationId xmlns:a16="http://schemas.microsoft.com/office/drawing/2014/main" id="{86F187E6-E031-401C-AA54-44A20A4E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4000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1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1 075 изображений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1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1 444 размеченных объекта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1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5 классов дефектов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16F04-DC19-4325-B852-773CB8837470}"/>
              </a:ext>
            </a:extLst>
          </p:cNvPr>
          <p:cNvGraphicFramePr/>
          <p:nvPr/>
        </p:nvGraphicFramePr>
        <p:xfrm>
          <a:off xmlns:a="http://schemas.openxmlformats.org/drawingml/2006/main" x="533400" y="2857500"/>
          <a:ext xmlns:a="http://schemas.openxmlformats.org/drawingml/2006/main" cx="4000500" cy="2381250"/>
        </p:xfrm>
        <a:graphic xmlns:a="http://schemas.openxmlformats.org/drawingml/2006/main">
          <a:graphicData uri="http://schemas.openxmlformats.org/drawingml/2006/table">
            <a:tbl>
              <a:tblPr firstRow="1" firstCol="0" lastRow="0" bandRow="0"/>
              <a:tblGrid>
                <a:gridCol w="1809750"/>
                <a:gridCol w="1047750"/>
                <a:gridCol w="1143000"/>
              </a:tblGrid>
              <a:tr h="595313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Выборка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Фото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Рамки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</a:tr>
              <a:tr h="595313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train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752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985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val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161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233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test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162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226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117EE-277A-4A31-B01C-862C7739EB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6d02cbac846f1"/>
          <a:stretch xmlns:a="http://schemas.openxmlformats.org/drawingml/2006/main"/>
        </p:blipFill>
        <p:spPr>
          <a:xfrm xmlns:a="http://schemas.openxmlformats.org/drawingml/2006/main">
            <a:off x="4857750" y="1203081"/>
            <a:ext cx="6800850" cy="4185138"/>
          </a:xfrm>
          <a:prstGeom xmlns:a="http://schemas.openxmlformats.org/drawingml/2006/main" prst="rect">
            <a:avLst/>
          </a:prstGeom>
        </p:spPr>
      </p:pic>
      <p:sp>
        <p:nvSpPr>
          <p:cNvPr id="7" name="Готовые XML-рамки подходят для сравнения детекторов.">
            <a:extLst xmlns:a="http://schemas.openxmlformats.org/drawingml/2006/main">
              <a:ext uri="{FF2B5EF4-FFF2-40B4-BE49-F238E27FC236}">
                <a16:creationId xmlns:a16="http://schemas.microsoft.com/office/drawing/2014/main" id="{8311BBA5-2AFF-4CF2-9768-2B0FB36F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Готовые XML-рамки подходят для сравнения детекторов.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Разделение ≈ 70/15/15 создано скриптом подготовки.</a:t>
            </a:r>
          </a:p>
        </p:txBody>
      </p:sp>
    </p:spTree>
    <p:extLst>
      <p:ext uri="{BB962C8B-B14F-4D97-AF65-F5344CB8AC3E}">
        <p14:creationId xmlns:p14="http://schemas.microsoft.com/office/powerpoint/2010/main" val="1825685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5DCAA71-38E1-48D0-8F36-A61DB021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Распределение объектов и ограничения данных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D0D2A749-B032-46D0-8A4E-6B86B1E2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6A35FAB4-97D1-4BE4-A443-4E6495A6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804C1-309B-4F9D-946D-79F54E7013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c341f2d3d4684"/>
          <a:stretch xmlns:a="http://schemas.openxmlformats.org/drawingml/2006/main"/>
        </p:blipFill>
        <p:spPr>
          <a:xfrm xmlns:a="http://schemas.openxmlformats.org/drawingml/2006/main">
            <a:off x="1619698" y="1066800"/>
            <a:ext cx="8952605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silk_spot: 58,1 % объектов train. deburring: только 3 о">
            <a:extLst xmlns:a="http://schemas.openxmlformats.org/drawingml/2006/main">
              <a:ext uri="{FF2B5EF4-FFF2-40B4-BE49-F238E27FC236}">
                <a16:creationId xmlns:a16="http://schemas.microsoft.com/office/drawing/2014/main" id="{C37F011D-A4A4-46D8-8F30-3F49B24F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silk_spot: 58,1 % объектов train. deburring: только 3 объекта test.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Разбиение не стратифицировано; результаты редких классов неустойчивы.</a:t>
            </a:r>
          </a:p>
        </p:txBody>
      </p:sp>
    </p:spTree>
    <p:extLst>
      <p:ext uri="{BB962C8B-B14F-4D97-AF65-F5344CB8AC3E}">
        <p14:creationId xmlns:p14="http://schemas.microsoft.com/office/powerpoint/2010/main" val="18377805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B08E4ED8-24BB-4641-9FAF-010CC411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Подготовка данных: единая геометрия рамок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70DA8B19-479D-4A5D-9955-9BD72530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D9D9718C-441C-4D2F-84A6-6F5FAF5D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05</a:t>
            </a:r>
          </a:p>
        </p:txBody>
      </p:sp>
      <p:sp>
        <p:nvSpPr>
          <p:cNvPr id="4" name="1. XML Pascal VOC → метки YOLO">
            <a:extLst xmlns:a="http://schemas.openxmlformats.org/drawingml/2006/main">
              <a:ext uri="{FF2B5EF4-FFF2-40B4-BE49-F238E27FC236}">
                <a16:creationId xmlns:a16="http://schemas.microsoft.com/office/drawing/2014/main" id="{833B2BB0-0253-44B1-9C24-4970541C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1. XML Pascal VOC → метки YOLO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Класс берётся из папки; центр и размеры рамки нормируются по W и H.</a:t>
            </a:r>
          </a:p>
        </p:txBody>
      </p:sp>
      <p:sp>
        <p:nvSpPr>
          <p:cNvPr id="5" name="2. Проверка файлов и разметки">
            <a:extLst xmlns:a="http://schemas.openxmlformats.org/drawingml/2006/main">
              <a:ext uri="{FF2B5EF4-FFF2-40B4-BE49-F238E27FC236}">
                <a16:creationId xmlns:a16="http://schemas.microsoft.com/office/drawing/2014/main" id="{5BD960EA-36E8-4C1D-B95C-A34818B7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2. Проверка файлов и разметки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Хеши, допустимые классы, конечные координаты и положительная площадь.</a:t>
            </a:r>
          </a:p>
        </p:txBody>
      </p:sp>
      <p:sp>
        <p:nvSpPr>
          <p:cNvPr id="6" name="3. Адаптация входа каждой модели">
            <a:extLst xmlns:a="http://schemas.openxmlformats.org/drawingml/2006/main">
              <a:ext uri="{FF2B5EF4-FFF2-40B4-BE49-F238E27FC236}">
                <a16:creationId xmlns:a16="http://schemas.microsoft.com/office/drawing/2014/main" id="{9A0E28BA-1D47-42AF-B48A-BFCFA85E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05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3. Адаптация входа каждой модели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Resize и нормализация сохраняют соответствие изображения и рамок.</a:t>
            </a:r>
          </a:p>
        </p:txBody>
      </p:sp>
      <p:sp>
        <p:nvSpPr>
          <p:cNvPr id="7" name="4. Общий выход для оценки">
            <a:extLst xmlns:a="http://schemas.openxmlformats.org/drawingml/2006/main">
              <a:ext uri="{FF2B5EF4-FFF2-40B4-BE49-F238E27FC236}">
                <a16:creationId xmlns:a16="http://schemas.microsoft.com/office/drawing/2014/main" id="{7F6600D8-1D8D-4867-8DEE-49B31131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4. Общий выход для оценки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XYXY в пикселях исходного кадра; классы 0–4; confidence.</a:t>
            </a:r>
          </a:p>
        </p:txBody>
      </p:sp>
    </p:spTree>
    <p:extLst>
      <p:ext uri="{BB962C8B-B14F-4D97-AF65-F5344CB8AC3E}">
        <p14:creationId xmlns:p14="http://schemas.microsoft.com/office/powerpoint/2010/main" val="16763737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E116616-EF13-4369-BEE5-7AB22809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Почему выбраны эти модели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4459130B-51A3-4128-8322-BC241A94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CDCDF734-B10F-4192-8740-66D37E20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4ECBC-A076-479C-856D-18772EF8B076}"/>
              </a:ext>
            </a:extLst>
          </p:cNvPr>
          <p:cNvGraphicFramePr/>
          <p:nvPr/>
        </p:nvGraphicFramePr>
        <p:xfrm>
          <a:off xmlns:a="http://schemas.openxmlformats.org/drawingml/2006/main" x="533400" y="1123950"/>
          <a:ext xmlns:a="http://schemas.openxmlformats.org/drawingml/2006/main" cx="11125200" cy="4210050"/>
        </p:xfrm>
        <a:graphic xmlns:a="http://schemas.openxmlformats.org/drawingml/2006/main">
          <a:graphicData uri="http://schemas.openxmlformats.org/drawingml/2006/table">
            <a:tbl>
              <a:tblPr firstRow="1" firstCol="0" lastRow="0" bandRow="0"/>
              <a:tblGrid>
                <a:gridCol w="2619375"/>
                <a:gridCol w="5191125"/>
                <a:gridCol w="3314700"/>
              </a:tblGrid>
              <a:tr h="701675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Семейство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Механизм детекции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Инициализация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</a:tr>
              <a:tr h="701675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YOLOv8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Одноэтапная детекция;</a:t>
                      </a:r>
                    </a:p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варианты n, s и n aug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COCO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Faster R-CNN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RPN + ResNet50 + FPN;</a:t>
                      </a:r>
                    </a:p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двухэтапный подход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COCO; новая голова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SSD300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VGG16; опорные рамки</a:t>
                      </a:r>
                    </a:p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на нескольких масштабах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С нуля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DETR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ResNet50 + Transformer;</a:t>
                      </a:r>
                    </a:p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предсказание множества объектов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COCO; новая голова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EfficientDet D0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EfficientNet + BiFPN;</a:t>
                      </a:r>
                    </a:p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компактный вариант D0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COCO; новая голова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Обзор: 16 научных работ об архитектурах, признаках, пот">
            <a:extLst xmlns:a="http://schemas.openxmlformats.org/drawingml/2006/main">
              <a:ext uri="{FF2B5EF4-FFF2-40B4-BE49-F238E27FC236}">
                <a16:creationId xmlns:a16="http://schemas.microsoft.com/office/drawing/2014/main" id="{D49429DD-E03D-49A5-B9A2-8735E64A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91175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Обзор: 16 научных работ об архитектурах, признаках, потерях,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аугментации и промышленном контроле качества.</a:t>
            </a:r>
          </a:p>
        </p:txBody>
      </p:sp>
    </p:spTree>
    <p:extLst>
      <p:ext uri="{BB962C8B-B14F-4D97-AF65-F5344CB8AC3E}">
        <p14:creationId xmlns:p14="http://schemas.microsoft.com/office/powerpoint/2010/main" val="19285639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88B9DD0-CC66-4501-ABE8-533752A7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Условия обучения и выбор checkpoint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4D7F73B7-A2BA-45A4-85CD-113538EB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71BF304E-12C5-411B-8ABD-5A0D3580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A9028-6919-4079-8FB9-4EADB2C31533}"/>
              </a:ext>
            </a:extLst>
          </p:cNvPr>
          <p:cNvGraphicFramePr/>
          <p:nvPr/>
        </p:nvGraphicFramePr>
        <p:xfrm>
          <a:off xmlns:a="http://schemas.openxmlformats.org/drawingml/2006/main" x="533400" y="1133475"/>
          <a:ext xmlns:a="http://schemas.openxmlformats.org/drawingml/2006/main" cx="11125200" cy="4267200"/>
        </p:xfrm>
        <a:graphic xmlns:a="http://schemas.openxmlformats.org/drawingml/2006/main">
          <a:graphicData uri="http://schemas.openxmlformats.org/drawingml/2006/table">
            <a:tbl>
              <a:tblPr firstRow="1" firstCol="0" lastRow="0" bandRow="0"/>
              <a:tblGrid>
                <a:gridCol w="2647950"/>
                <a:gridCol w="971550"/>
                <a:gridCol w="990600"/>
                <a:gridCol w="1371600"/>
                <a:gridCol w="5143500"/>
              </a:tblGrid>
              <a:tr h="5334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Эксперимент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Эпохи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Batch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Накопл.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Выбор весов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</a:tr>
              <a:tr h="5334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YOLOv8n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16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Штатно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best.pt по val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YOLOv8s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16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Штатно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best.pt по val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YOLOv8n aug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16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Штатно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best.pt по val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Faster R-CNN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10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4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Нет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Последняя эпоха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SSD300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10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4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Нет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Последняя эпоха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DETR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10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4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Val mAP50–95; эпоха 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EfficientDet D0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10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4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Val mAP50–95; эпоха 10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YOLO: Windows, RTX 3050; Faster R-CNN и SSD: Colab.">
            <a:extLst xmlns:a="http://schemas.openxmlformats.org/drawingml/2006/main">
              <a:ext uri="{FF2B5EF4-FFF2-40B4-BE49-F238E27FC236}">
                <a16:creationId xmlns:a16="http://schemas.microsoft.com/office/drawing/2014/main" id="{E1C7B48B-7FBC-41CD-B14E-A00EA651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YOLO: Windows, RTX 3050; Faster R-CNN и SSD: Colab.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Исправленный DETR и EfficientDet: локальное обучение на RTX 3050.</a:t>
            </a:r>
          </a:p>
        </p:txBody>
      </p:sp>
    </p:spTree>
    <p:extLst>
      <p:ext uri="{BB962C8B-B14F-4D97-AF65-F5344CB8AC3E}">
        <p14:creationId xmlns:p14="http://schemas.microsoft.com/office/powerpoint/2010/main" val="1980701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E2838AB-5CEB-4789-BFA1-E2A63E2B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Один протокол тестовой оценки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C10AB5D0-0D83-461D-ABD8-FD400B33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A8A2E707-22F8-4876-9558-DFEBE4A7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08</a:t>
            </a:r>
          </a:p>
        </p:txBody>
      </p:sp>
      <p:sp>
        <p:nvSpPr>
          <p:cNvPr id="4" name="TEST: 162 изображения · 226 истинных объектов">
            <a:extLst xmlns:a="http://schemas.openxmlformats.org/drawingml/2006/main">
              <a:ext uri="{FF2B5EF4-FFF2-40B4-BE49-F238E27FC236}">
                <a16:creationId xmlns:a16="http://schemas.microsoft.com/office/drawing/2014/main" id="{933D3E3E-C74F-4AFA-B9D3-C61276BA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25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TEST: 162 изображения · 226 истинных объектов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9C708-12F3-4FF1-AD05-39774F11ADED}"/>
              </a:ext>
            </a:extLst>
          </p:cNvPr>
          <p:cNvGraphicFramePr/>
          <p:nvPr/>
        </p:nvGraphicFramePr>
        <p:xfrm>
          <a:off xmlns:a="http://schemas.openxmlformats.org/drawingml/2006/main" x="533400" y="1847850"/>
          <a:ext xmlns:a="http://schemas.openxmlformats.org/drawingml/2006/main" cx="11125200" cy="2581275"/>
        </p:xfrm>
        <a:graphic xmlns:a="http://schemas.openxmlformats.org/drawingml/2006/main">
          <a:graphicData uri="http://schemas.openxmlformats.org/drawingml/2006/table">
            <a:tbl>
              <a:tblPr firstRow="1" firstCol="0" lastRow="0" bandRow="0"/>
              <a:tblGrid>
                <a:gridCol w="3486150"/>
                <a:gridCol w="7639050"/>
              </a:tblGrid>
              <a:tr h="645319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Показатель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Что измеряет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</a:tr>
              <a:tr h="645319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AP по пяти классам при IoU = 0,50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645319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mAP50–95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AP при десяти IoU от 0,50 до 0,95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645319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Precision / Recall / F1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Micro-оценка при confidence ≥ 0,25 и IoU ≥ 0,50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Для AP: confidence ≥ 0,001 и 101 точка Recall.">
            <a:extLst xmlns:a="http://schemas.openxmlformats.org/drawingml/2006/main">
              <a:ext uri="{FF2B5EF4-FFF2-40B4-BE49-F238E27FC236}">
                <a16:creationId xmlns:a16="http://schemas.microsoft.com/office/drawing/2014/main" id="{42877FE6-F52B-4C86-9DD6-75C9A7D3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2025"/>
            <a:ext cx="111252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9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9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Для AP: confidence ≥ 0,001 и 101 точка Recall.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9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9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Test не используется для обновления весов и выбора лучшей эпохи.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9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9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Метрики пересчитаны из сохранённых предсказаний и совпали.</a:t>
            </a:r>
          </a:p>
        </p:txBody>
      </p:sp>
    </p:spTree>
    <p:extLst>
      <p:ext uri="{BB962C8B-B14F-4D97-AF65-F5344CB8AC3E}">
        <p14:creationId xmlns:p14="http://schemas.microsoft.com/office/powerpoint/2010/main" val="829831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61890F16-610F-4F54-990A-74BFABA0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YOLOv8n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A95CF86D-1083-4C17-A725-60937D5B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2A324CCB-FD48-4A94-958A-F78CF78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09</a:t>
            </a:r>
          </a:p>
        </p:txBody>
      </p:sp>
      <p:sp>
        <p:nvSpPr>
          <p:cNvPr id="4" name="Baseline · 50 эпох · 640 × 640 · batch 16">
            <a:extLst xmlns:a="http://schemas.openxmlformats.org/drawingml/2006/main">
              <a:ext uri="{FF2B5EF4-FFF2-40B4-BE49-F238E27FC236}">
                <a16:creationId xmlns:a16="http://schemas.microsoft.com/office/drawing/2014/main" id="{2B88CA81-AFAF-4882-BB41-698F454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Baseline · 50 эпох · 640 × 640 · batch 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59E6F-2595-4918-AA0E-E107FF2891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c9933a2f04359"/>
          <a:stretch xmlns:a="http://schemas.openxmlformats.org/drawingml/2006/main"/>
        </p:blipFill>
        <p:spPr>
          <a:xfrm xmlns:a="http://schemas.openxmlformats.org/drawingml/2006/main">
            <a:off x="534458" y="1714500"/>
            <a:ext cx="7179733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Итоговая оценка TEST">
            <a:extLst xmlns:a="http://schemas.openxmlformats.org/drawingml/2006/main">
              <a:ext uri="{FF2B5EF4-FFF2-40B4-BE49-F238E27FC236}">
                <a16:creationId xmlns:a16="http://schemas.microsoft.com/office/drawing/2014/main" id="{E9FADDAC-4B85-47F6-B46E-E20AF1AF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Итоговая оценка TEST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4D423-5AFE-4444-A8A7-627677A6106B}"/>
              </a:ext>
            </a:extLst>
          </p:cNvPr>
          <p:cNvGraphicFramePr/>
          <p:nvPr/>
        </p:nvGraphicFramePr>
        <p:xfrm>
          <a:off xmlns:a="http://schemas.openxmlformats.org/drawingml/2006/main" x="8096250" y="2076450"/>
          <a:ext xmlns:a="http://schemas.openxmlformats.org/drawingml/2006/main" cx="3562350" cy="2743200"/>
        </p:xfrm>
        <a:graphic xmlns:a="http://schemas.openxmlformats.org/drawingml/2006/main">
          <a:graphicData uri="http://schemas.openxmlformats.org/drawingml/2006/table">
            <a:tbl>
              <a:tblPr firstRow="1" firstCol="0" lastRow="0" bandRow="0"/>
              <a:tblGrid>
                <a:gridCol w="2095500"/>
                <a:gridCol w="1466850"/>
              </a:tblGrid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Метрика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Значение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0,4991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mAP50–95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0,2111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Precision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0,5268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Recall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0,5221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F1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0,5244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P 118 · FP 106 · FN 108">
            <a:extLst xmlns:a="http://schemas.openxmlformats.org/drawingml/2006/main">
              <a:ext uri="{FF2B5EF4-FFF2-40B4-BE49-F238E27FC236}">
                <a16:creationId xmlns:a16="http://schemas.microsoft.com/office/drawing/2014/main" id="{25185BA9-AC23-4555-9DBC-5E5BFEB5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3562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TP 118 · FP 106 · FN 108</a:t>
            </a:r>
          </a:p>
        </p:txBody>
      </p:sp>
      <p:sp>
        <p:nvSpPr>
          <p:cNvPr id="9" name="Лучшая mAP50–95 в этой серии: 0,2111.">
            <a:extLst xmlns:a="http://schemas.openxmlformats.org/drawingml/2006/main">
              <a:ext uri="{FF2B5EF4-FFF2-40B4-BE49-F238E27FC236}">
                <a16:creationId xmlns:a16="http://schemas.microsoft.com/office/drawing/2014/main" id="{AF031964-8C7D-4B9E-8F00-AD076D87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Лучшая mAP50–95 в этой серии: 0,2111.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Базовая конфигурация для сравнения размера и аугментации.</a:t>
            </a:r>
          </a:p>
        </p:txBody>
      </p:sp>
    </p:spTree>
    <p:extLst>
      <p:ext uri="{BB962C8B-B14F-4D97-AF65-F5344CB8AC3E}">
        <p14:creationId xmlns:p14="http://schemas.microsoft.com/office/powerpoint/2010/main" val="2935065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D3EA6F2-6A9F-4E10-A988-33ABCC77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YOLOv8s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186AA690-F2E6-4B05-A69A-BEBACFA5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7E1B9D69-EBF6-4BCA-AB2A-6C35FC0F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10</a:t>
            </a:r>
          </a:p>
        </p:txBody>
      </p:sp>
      <p:sp>
        <p:nvSpPr>
          <p:cNvPr id="4" name="Увеличение масштаба сети · 50 эпох · 640 × 640 · batch ">
            <a:extLst xmlns:a="http://schemas.openxmlformats.org/drawingml/2006/main">
              <a:ext uri="{FF2B5EF4-FFF2-40B4-BE49-F238E27FC236}">
                <a16:creationId xmlns:a16="http://schemas.microsoft.com/office/drawing/2014/main" id="{A7F36E60-B747-4BEC-B16B-EE937593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Увеличение масштаба сети · 50 эпох · 640 × 640 · batch 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303DD-DE8B-483E-A972-1AC1668B36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d495950c24690"/>
          <a:stretch xmlns:a="http://schemas.openxmlformats.org/drawingml/2006/main"/>
        </p:blipFill>
        <p:spPr>
          <a:xfrm xmlns:a="http://schemas.openxmlformats.org/drawingml/2006/main">
            <a:off x="534458" y="1714500"/>
            <a:ext cx="7179733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Итоговая оценка TEST">
            <a:extLst xmlns:a="http://schemas.openxmlformats.org/drawingml/2006/main">
              <a:ext uri="{FF2B5EF4-FFF2-40B4-BE49-F238E27FC236}">
                <a16:creationId xmlns:a16="http://schemas.microsoft.com/office/drawing/2014/main" id="{156BB24D-851E-4EEB-9107-5CB4E3CD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Итоговая оценка TEST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5A2CF-C1DF-47BC-956B-4506E605ADA1}"/>
              </a:ext>
            </a:extLst>
          </p:cNvPr>
          <p:cNvGraphicFramePr/>
          <p:nvPr/>
        </p:nvGraphicFramePr>
        <p:xfrm>
          <a:off xmlns:a="http://schemas.openxmlformats.org/drawingml/2006/main" x="8096250" y="2076450"/>
          <a:ext xmlns:a="http://schemas.openxmlformats.org/drawingml/2006/main" cx="3562350" cy="2743200"/>
        </p:xfrm>
        <a:graphic xmlns:a="http://schemas.openxmlformats.org/drawingml/2006/main">
          <a:graphicData uri="http://schemas.openxmlformats.org/drawingml/2006/table">
            <a:tbl>
              <a:tblPr firstRow="1" firstCol="0" lastRow="0" bandRow="0"/>
              <a:tblGrid>
                <a:gridCol w="2095500"/>
                <a:gridCol w="1466850"/>
              </a:tblGrid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Метрика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Значение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0,5157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mAP50–95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0,1848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Precision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0,5581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Recall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0,5310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F1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0,5442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P 120 · FP 95 · FN 106">
            <a:extLst xmlns:a="http://schemas.openxmlformats.org/drawingml/2006/main">
              <a:ext uri="{FF2B5EF4-FFF2-40B4-BE49-F238E27FC236}">
                <a16:creationId xmlns:a16="http://schemas.microsoft.com/office/drawing/2014/main" id="{25FA286C-9AA5-499A-99AB-FAA7660D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3562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TP 120 · FP 95 · FN 106</a:t>
            </a:r>
          </a:p>
        </p:txBody>
      </p:sp>
      <p:sp>
        <p:nvSpPr>
          <p:cNvPr id="9" name="Лучшие mAP50 и F1 среди семи экспериментов.">
            <a:extLst xmlns:a="http://schemas.openxmlformats.org/drawingml/2006/main">
              <a:ext uri="{FF2B5EF4-FFF2-40B4-BE49-F238E27FC236}">
                <a16:creationId xmlns:a16="http://schemas.microsoft.com/office/drawing/2014/main" id="{0DC1F819-B14C-40F7-A360-834EB9E8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Лучшие mAP50 и F1 среди семи экспериментов.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mAP50 выше baseline на 1,66 процентного пункта.</a:t>
            </a:r>
          </a:p>
        </p:txBody>
      </p:sp>
    </p:spTree>
    <p:extLst>
      <p:ext uri="{BB962C8B-B14F-4D97-AF65-F5344CB8AC3E}">
        <p14:creationId xmlns:p14="http://schemas.microsoft.com/office/powerpoint/2010/main" val="20304498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EECBFB80-EF1F-407F-BD84-7B699BB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YOLOv8n aug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946FA87A-296F-47B9-83B1-FA311C5F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279D88E0-F7DE-40F1-AEDC-6C13C39E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11</a:t>
            </a:r>
          </a:p>
        </p:txBody>
      </p:sp>
      <p:sp>
        <p:nvSpPr>
          <p:cNvPr id="4" name="50 эпох · mixup = 0,1 · повороты до 10° · mosaic">
            <a:extLst xmlns:a="http://schemas.openxmlformats.org/drawingml/2006/main">
              <a:ext uri="{FF2B5EF4-FFF2-40B4-BE49-F238E27FC236}">
                <a16:creationId xmlns:a16="http://schemas.microsoft.com/office/drawing/2014/main" id="{CB7C1A19-76AB-45CD-9E99-55045FF3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50 эпох · mixup = 0,1 · повороты до 10° · mosaic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13BE9-6303-4A16-A04A-1C82B4E35E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6a9b04e0a47db"/>
          <a:stretch xmlns:a="http://schemas.openxmlformats.org/drawingml/2006/main"/>
        </p:blipFill>
        <p:spPr>
          <a:xfrm xmlns:a="http://schemas.openxmlformats.org/drawingml/2006/main">
            <a:off x="534458" y="1714500"/>
            <a:ext cx="7179733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Итоговая оценка TEST">
            <a:extLst xmlns:a="http://schemas.openxmlformats.org/drawingml/2006/main">
              <a:ext uri="{FF2B5EF4-FFF2-40B4-BE49-F238E27FC236}">
                <a16:creationId xmlns:a16="http://schemas.microsoft.com/office/drawing/2014/main" id="{F88BF34F-E7C3-4427-88E8-04061B8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Итоговая оценка TEST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A7F82-94BE-46EE-8462-037C40D71905}"/>
              </a:ext>
            </a:extLst>
          </p:cNvPr>
          <p:cNvGraphicFramePr/>
          <p:nvPr/>
        </p:nvGraphicFramePr>
        <p:xfrm>
          <a:off xmlns:a="http://schemas.openxmlformats.org/drawingml/2006/main" x="8096250" y="2076450"/>
          <a:ext xmlns:a="http://schemas.openxmlformats.org/drawingml/2006/main" cx="3562350" cy="2743200"/>
        </p:xfrm>
        <a:graphic xmlns:a="http://schemas.openxmlformats.org/drawingml/2006/main">
          <a:graphicData uri="http://schemas.openxmlformats.org/drawingml/2006/table">
            <a:tbl>
              <a:tblPr firstRow="1" firstCol="0" lastRow="0" bandRow="0"/>
              <a:tblGrid>
                <a:gridCol w="2095500"/>
                <a:gridCol w="1466850"/>
              </a:tblGrid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Метрика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Значение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0,4250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mAP50–95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0,1791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Precision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0,5347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Recall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0,4779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F1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0,5047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P 108 · FP 94 · FN 118">
            <a:extLst xmlns:a="http://schemas.openxmlformats.org/drawingml/2006/main">
              <a:ext uri="{FF2B5EF4-FFF2-40B4-BE49-F238E27FC236}">
                <a16:creationId xmlns:a16="http://schemas.microsoft.com/office/drawing/2014/main" id="{771E9930-8745-4BD5-A7E1-8D65BA50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3562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TP 108 · FP 94 · FN 118</a:t>
            </a:r>
          </a:p>
        </p:txBody>
      </p:sp>
      <p:sp>
        <p:nvSpPr>
          <p:cNvPr id="9" name="mAP50 снизилась на 7,41 процентного пункта.">
            <a:extLst xmlns:a="http://schemas.openxmlformats.org/drawingml/2006/main">
              <a:ext uri="{FF2B5EF4-FFF2-40B4-BE49-F238E27FC236}">
                <a16:creationId xmlns:a16="http://schemas.microsoft.com/office/drawing/2014/main" id="{0272EFD9-A4BB-4C7B-B20C-9D554925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mAP50 снизилась на 7,41 процентного пункта.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Усиленная аугментация не улучшила общий результат этого запуска.</a:t>
            </a:r>
          </a:p>
        </p:txBody>
      </p:sp>
    </p:spTree>
    <p:extLst>
      <p:ext uri="{BB962C8B-B14F-4D97-AF65-F5344CB8AC3E}">
        <p14:creationId xmlns:p14="http://schemas.microsoft.com/office/powerpoint/2010/main" val="18121748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1CC4C76-48D1-4099-AD41-9861C2CB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Faster R-CNN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E6547657-921D-4EAB-BA43-53B151F7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F88769FC-F58A-4EB3-A942-3A4B7198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12</a:t>
            </a:r>
          </a:p>
        </p:txBody>
      </p:sp>
      <p:sp>
        <p:nvSpPr>
          <p:cNvPr id="4" name="ResNet50 FPN · COCO · 10 эпох · batch 4 · SGD">
            <a:extLst xmlns:a="http://schemas.openxmlformats.org/drawingml/2006/main">
              <a:ext uri="{FF2B5EF4-FFF2-40B4-BE49-F238E27FC236}">
                <a16:creationId xmlns:a16="http://schemas.microsoft.com/office/drawing/2014/main" id="{EE85F7B7-5992-4562-992B-33700C34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ResNet50 FPN · COCO · 10 эпох · batch 4 · SGD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1F3AE-B90B-4F3D-A109-545233E96C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a2bd36f4944fc"/>
          <a:stretch xmlns:a="http://schemas.openxmlformats.org/drawingml/2006/main"/>
        </p:blipFill>
        <p:spPr>
          <a:xfrm xmlns:a="http://schemas.openxmlformats.org/drawingml/2006/main">
            <a:off x="534458" y="1714500"/>
            <a:ext cx="7179733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Итоговая оценка TEST">
            <a:extLst xmlns:a="http://schemas.openxmlformats.org/drawingml/2006/main">
              <a:ext uri="{FF2B5EF4-FFF2-40B4-BE49-F238E27FC236}">
                <a16:creationId xmlns:a16="http://schemas.microsoft.com/office/drawing/2014/main" id="{EB043554-77FF-41EA-B2F2-54A84467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Итоговая оценка TEST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AB239-4C5D-4494-A2D4-6FF8210F95C8}"/>
              </a:ext>
            </a:extLst>
          </p:cNvPr>
          <p:cNvGraphicFramePr/>
          <p:nvPr/>
        </p:nvGraphicFramePr>
        <p:xfrm>
          <a:off xmlns:a="http://schemas.openxmlformats.org/drawingml/2006/main" x="8096250" y="2076450"/>
          <a:ext xmlns:a="http://schemas.openxmlformats.org/drawingml/2006/main" cx="3562350" cy="2743200"/>
        </p:xfrm>
        <a:graphic xmlns:a="http://schemas.openxmlformats.org/drawingml/2006/main">
          <a:graphicData uri="http://schemas.openxmlformats.org/drawingml/2006/table">
            <a:tbl>
              <a:tblPr firstRow="1" firstCol="0" lastRow="0" bandRow="0"/>
              <a:tblGrid>
                <a:gridCol w="2095500"/>
                <a:gridCol w="1466850"/>
              </a:tblGrid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Метрика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Значение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0,4840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mAP50–95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0,2060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Precision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0,1946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Recall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0,7345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F1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0,3077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P 166 · FP 687 · FN 60">
            <a:extLst xmlns:a="http://schemas.openxmlformats.org/drawingml/2006/main">
              <a:ext uri="{FF2B5EF4-FFF2-40B4-BE49-F238E27FC236}">
                <a16:creationId xmlns:a16="http://schemas.microsoft.com/office/drawing/2014/main" id="{1F3E1288-5766-4EBE-8776-3D2058FC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3562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TP 166 · FP 687 · FN 60</a:t>
            </a:r>
          </a:p>
        </p:txBody>
      </p:sp>
      <p:sp>
        <p:nvSpPr>
          <p:cNvPr id="9" name="Наибольшая полнота: Recall = 0,7345.">
            <a:extLst xmlns:a="http://schemas.openxmlformats.org/drawingml/2006/main">
              <a:ext uri="{FF2B5EF4-FFF2-40B4-BE49-F238E27FC236}">
                <a16:creationId xmlns:a16="http://schemas.microsoft.com/office/drawing/2014/main" id="{F83F6EE7-0EAA-4534-988E-A37C152F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Наибольшая полнота: Recall = 0,7345.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166 правильных рамок, но 687 ложных срабатываний.</a:t>
            </a:r>
          </a:p>
        </p:txBody>
      </p:sp>
    </p:spTree>
    <p:extLst>
      <p:ext uri="{BB962C8B-B14F-4D97-AF65-F5344CB8AC3E}">
        <p14:creationId xmlns:p14="http://schemas.microsoft.com/office/powerpoint/2010/main" val="11405539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D793E7D-6872-4E0E-B57E-0A621C9F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SSD300 VGG16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27C021FD-692E-4971-BE69-B6A093CC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551E4827-5D70-4673-8A90-177C7CF9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13</a:t>
            </a:r>
          </a:p>
        </p:txBody>
      </p:sp>
      <p:sp>
        <p:nvSpPr>
          <p:cNvPr id="4" name="SSD300 VGG16 · с нуля · 10 эпох · batch 4 · AdamW">
            <a:extLst xmlns:a="http://schemas.openxmlformats.org/drawingml/2006/main">
              <a:ext uri="{FF2B5EF4-FFF2-40B4-BE49-F238E27FC236}">
                <a16:creationId xmlns:a16="http://schemas.microsoft.com/office/drawing/2014/main" id="{8F25D0A0-0DCD-47DE-B3C3-0ED6EBCB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SSD300 VGG16 · с нуля · 10 эпох · batch 4 · AdamW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4304B-F381-459D-9553-53C0A3E154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861db2f15453a"/>
          <a:stretch xmlns:a="http://schemas.openxmlformats.org/drawingml/2006/main"/>
        </p:blipFill>
        <p:spPr>
          <a:xfrm xmlns:a="http://schemas.openxmlformats.org/drawingml/2006/main">
            <a:off x="534458" y="1714500"/>
            <a:ext cx="7179733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Итоговая оценка TEST">
            <a:extLst xmlns:a="http://schemas.openxmlformats.org/drawingml/2006/main">
              <a:ext uri="{FF2B5EF4-FFF2-40B4-BE49-F238E27FC236}">
                <a16:creationId xmlns:a16="http://schemas.microsoft.com/office/drawing/2014/main" id="{FF1B75F7-BFE8-435C-86A4-57AA75E4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Итоговая оценка TEST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4E09D-BFB0-4964-A7F4-1DC802727404}"/>
              </a:ext>
            </a:extLst>
          </p:cNvPr>
          <p:cNvGraphicFramePr/>
          <p:nvPr/>
        </p:nvGraphicFramePr>
        <p:xfrm>
          <a:off xmlns:a="http://schemas.openxmlformats.org/drawingml/2006/main" x="8096250" y="2076450"/>
          <a:ext xmlns:a="http://schemas.openxmlformats.org/drawingml/2006/main" cx="3562350" cy="2743200"/>
        </p:xfrm>
        <a:graphic xmlns:a="http://schemas.openxmlformats.org/drawingml/2006/main">
          <a:graphicData uri="http://schemas.openxmlformats.org/drawingml/2006/table">
            <a:tbl>
              <a:tblPr firstRow="1" firstCol="0" lastRow="0" bandRow="0"/>
              <a:tblGrid>
                <a:gridCol w="2095500"/>
                <a:gridCol w="1466850"/>
              </a:tblGrid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Метрика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Значение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0,0355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mAP50–95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0,0112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Precision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0,0988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Recall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0,1416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F1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0,1164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P 32 · FP 292 · FN 194">
            <a:extLst xmlns:a="http://schemas.openxmlformats.org/drawingml/2006/main">
              <a:ext uri="{FF2B5EF4-FFF2-40B4-BE49-F238E27FC236}">
                <a16:creationId xmlns:a16="http://schemas.microsoft.com/office/drawing/2014/main" id="{9E01D3A3-CE0A-4B2B-B776-18656069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3562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TP 32 · FP 292 · FN 194</a:t>
            </a:r>
          </a:p>
        </p:txBody>
      </p:sp>
      <p:sp>
        <p:nvSpPr>
          <p:cNvPr id="9" name="Низкая mAP50: 0,0355.">
            <a:extLst xmlns:a="http://schemas.openxmlformats.org/drawingml/2006/main">
              <a:ext uri="{FF2B5EF4-FFF2-40B4-BE49-F238E27FC236}">
                <a16:creationId xmlns:a16="http://schemas.microsoft.com/office/drawing/2014/main" id="{E41C6F3C-8EED-4879-9551-28BB017F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Низкая mAP50: 0,0355.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Снижение train loss само по себе не означает качественную детекцию.</a:t>
            </a:r>
          </a:p>
        </p:txBody>
      </p:sp>
    </p:spTree>
    <p:extLst>
      <p:ext uri="{BB962C8B-B14F-4D97-AF65-F5344CB8AC3E}">
        <p14:creationId xmlns:p14="http://schemas.microsoft.com/office/powerpoint/2010/main" val="14875857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A8E9E9F-2492-4375-A6F8-F420B80E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DETR ResNet50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E6E8C88A-F4DC-4099-9998-BAE08AB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35B7E088-1D0C-403B-9C94-E5C1CB1D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14</a:t>
            </a:r>
          </a:p>
        </p:txBody>
      </p:sp>
      <p:sp>
        <p:nvSpPr>
          <p:cNvPr id="4" name="Исправленная геометрия · 10 эпох · batch 1 × accumulati">
            <a:extLst xmlns:a="http://schemas.openxmlformats.org/drawingml/2006/main">
              <a:ext uri="{FF2B5EF4-FFF2-40B4-BE49-F238E27FC236}">
                <a16:creationId xmlns:a16="http://schemas.microsoft.com/office/drawing/2014/main" id="{CFCF98D8-4C5E-4565-B51C-1B08E255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Исправленная геометрия · 10 эпох · batch 1 × accumulation 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1A984-8E5D-4433-A352-9227692EF9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4a095bdf94a4a"/>
          <a:stretch xmlns:a="http://schemas.openxmlformats.org/drawingml/2006/main"/>
        </p:blipFill>
        <p:spPr>
          <a:xfrm xmlns:a="http://schemas.openxmlformats.org/drawingml/2006/main">
            <a:off x="534458" y="1714500"/>
            <a:ext cx="7179733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Итоговая оценка TEST">
            <a:extLst xmlns:a="http://schemas.openxmlformats.org/drawingml/2006/main">
              <a:ext uri="{FF2B5EF4-FFF2-40B4-BE49-F238E27FC236}">
                <a16:creationId xmlns:a16="http://schemas.microsoft.com/office/drawing/2014/main" id="{318CB33A-DCD6-433D-8834-E6235804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Итоговая оценка TEST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EF957-910A-45AB-A83D-096D1E919A08}"/>
              </a:ext>
            </a:extLst>
          </p:cNvPr>
          <p:cNvGraphicFramePr/>
          <p:nvPr/>
        </p:nvGraphicFramePr>
        <p:xfrm>
          <a:off xmlns:a="http://schemas.openxmlformats.org/drawingml/2006/main" x="8096250" y="2076450"/>
          <a:ext xmlns:a="http://schemas.openxmlformats.org/drawingml/2006/main" cx="3562350" cy="2743200"/>
        </p:xfrm>
        <a:graphic xmlns:a="http://schemas.openxmlformats.org/drawingml/2006/main">
          <a:graphicData uri="http://schemas.openxmlformats.org/drawingml/2006/table">
            <a:tbl>
              <a:tblPr firstRow="1" firstCol="0" lastRow="0" bandRow="0"/>
              <a:tblGrid>
                <a:gridCol w="2095500"/>
                <a:gridCol w="1466850"/>
              </a:tblGrid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Метрика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Значение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0,0654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mAP50–95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0,0287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Precision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0,0545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Recall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0,2080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F1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0,0863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P 47 · FP 816 · FN 179">
            <a:extLst xmlns:a="http://schemas.openxmlformats.org/drawingml/2006/main">
              <a:ext uri="{FF2B5EF4-FFF2-40B4-BE49-F238E27FC236}">
                <a16:creationId xmlns:a16="http://schemas.microsoft.com/office/drawing/2014/main" id="{2CEC2925-4F1E-49C0-AF26-02A30F25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3562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TP 47 · FP 816 · FN 179</a:t>
            </a:r>
          </a:p>
        </p:txBody>
      </p:sp>
      <p:sp>
        <p:nvSpPr>
          <p:cNvPr id="9" name="Лучшие веса выбраны на val после 8-й эпохи.">
            <a:extLst xmlns:a="http://schemas.openxmlformats.org/drawingml/2006/main">
              <a:ext uri="{FF2B5EF4-FFF2-40B4-BE49-F238E27FC236}">
                <a16:creationId xmlns:a16="http://schemas.microsoft.com/office/drawing/2014/main" id="{5C7CA486-522F-4623-9E2A-A7C1465D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Лучшие веса выбраны на val после 8-й эпохи.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Старый checkpoint с ошибкой рамок исключён из сравнения.</a:t>
            </a:r>
          </a:p>
        </p:txBody>
      </p:sp>
    </p:spTree>
    <p:extLst>
      <p:ext uri="{BB962C8B-B14F-4D97-AF65-F5344CB8AC3E}">
        <p14:creationId xmlns:p14="http://schemas.microsoft.com/office/powerpoint/2010/main" val="18664232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2C608C1-7097-4AFD-AEE6-689154DC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EfficientDet D0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FA444ACB-1E1D-4E7F-B2E5-CA927014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6B2C2752-EB74-4F04-99AF-C5DDBEB8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15</a:t>
            </a:r>
          </a:p>
        </p:txBody>
      </p:sp>
      <p:sp>
        <p:nvSpPr>
          <p:cNvPr id="4" name="D0 · COCO → 5 классов · 10 эпох · batch 1 × accumulatio">
            <a:extLst xmlns:a="http://schemas.openxmlformats.org/drawingml/2006/main">
              <a:ext uri="{FF2B5EF4-FFF2-40B4-BE49-F238E27FC236}">
                <a16:creationId xmlns:a16="http://schemas.microsoft.com/office/drawing/2014/main" id="{DFD90259-183B-4762-A5CC-DBE7BC70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D0 · COCO → 5 классов · 10 эпох · batch 1 × accumulation 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874C0-1B38-4B97-9F5C-0E7B8E0D29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745a5abde4c83"/>
          <a:stretch xmlns:a="http://schemas.openxmlformats.org/drawingml/2006/main"/>
        </p:blipFill>
        <p:spPr>
          <a:xfrm xmlns:a="http://schemas.openxmlformats.org/drawingml/2006/main">
            <a:off x="534458" y="1714500"/>
            <a:ext cx="7179733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Итоговая оценка TEST">
            <a:extLst xmlns:a="http://schemas.openxmlformats.org/drawingml/2006/main">
              <a:ext uri="{FF2B5EF4-FFF2-40B4-BE49-F238E27FC236}">
                <a16:creationId xmlns:a16="http://schemas.microsoft.com/office/drawing/2014/main" id="{D9BC0C53-6185-49EA-8381-B4D71F7F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Итоговая оценка TEST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9369E-FCD8-4450-86FB-8783F0D39FA3}"/>
              </a:ext>
            </a:extLst>
          </p:cNvPr>
          <p:cNvGraphicFramePr/>
          <p:nvPr/>
        </p:nvGraphicFramePr>
        <p:xfrm>
          <a:off xmlns:a="http://schemas.openxmlformats.org/drawingml/2006/main" x="8096250" y="2076450"/>
          <a:ext xmlns:a="http://schemas.openxmlformats.org/drawingml/2006/main" cx="3562350" cy="2743200"/>
        </p:xfrm>
        <a:graphic xmlns:a="http://schemas.openxmlformats.org/drawingml/2006/main">
          <a:graphicData uri="http://schemas.openxmlformats.org/drawingml/2006/table">
            <a:tbl>
              <a:tblPr firstRow="1" firstCol="0" lastRow="0" bandRow="0"/>
              <a:tblGrid>
                <a:gridCol w="2095500"/>
                <a:gridCol w="1466850"/>
              </a:tblGrid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Метрика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Значение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0,2078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mAP50–95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0,0731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Precision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0,3258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Recall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0,1903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F1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0,2402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P 43 · FP 89 · FN 183">
            <a:extLst xmlns:a="http://schemas.openxmlformats.org/drawingml/2006/main">
              <a:ext uri="{FF2B5EF4-FFF2-40B4-BE49-F238E27FC236}">
                <a16:creationId xmlns:a16="http://schemas.microsoft.com/office/drawing/2014/main" id="{5E898EC3-9D47-4305-A416-4B363781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3562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TP 43 · FP 89 · FN 183</a:t>
            </a:r>
          </a:p>
        </p:txBody>
      </p:sp>
      <p:sp>
        <p:nvSpPr>
          <p:cNvPr id="9" name="Пятое семейство детекторов · mAP50 = 0,2078.">
            <a:extLst xmlns:a="http://schemas.openxmlformats.org/drawingml/2006/main">
              <a:ext uri="{FF2B5EF4-FFF2-40B4-BE49-F238E27FC236}">
                <a16:creationId xmlns:a16="http://schemas.microsoft.com/office/drawing/2014/main" id="{85C97796-8250-4C06-9C65-D8CF01DF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Пятое семейство детекторов · mAP50 = 0,2078.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Лучшие веса выбраны на val после 10-й эпохи.</a:t>
            </a:r>
          </a:p>
        </p:txBody>
      </p:sp>
    </p:spTree>
    <p:extLst>
      <p:ext uri="{BB962C8B-B14F-4D97-AF65-F5344CB8AC3E}">
        <p14:creationId xmlns:p14="http://schemas.microsoft.com/office/powerpoint/2010/main" val="14322172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8428561-EDA9-4FA9-BA82-4D503497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Сравнение семи экспериментов на TEST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1BB91547-687A-45EE-A0BF-8DB998A2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1AFB57BF-9634-46C1-BD7D-92DB09E8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AA2C1-5C1F-4DD8-BA48-08693206F9F3}"/>
              </a:ext>
            </a:extLst>
          </p:cNvPr>
          <p:cNvGraphicFramePr/>
          <p:nvPr/>
        </p:nvGraphicFramePr>
        <p:xfrm>
          <a:off xmlns:a="http://schemas.openxmlformats.org/drawingml/2006/main" x="533400" y="1143000"/>
          <a:ext xmlns:a="http://schemas.openxmlformats.org/drawingml/2006/main" cx="11125200" cy="4133850"/>
        </p:xfrm>
        <a:graphic xmlns:a="http://schemas.openxmlformats.org/drawingml/2006/main">
          <a:graphicData uri="http://schemas.openxmlformats.org/drawingml/2006/table">
            <a:tbl>
              <a:tblPr firstRow="1" firstCol="0" lastRow="0" bandRow="0"/>
              <a:tblGrid>
                <a:gridCol w="3105150"/>
                <a:gridCol w="1514475"/>
                <a:gridCol w="1790700"/>
                <a:gridCol w="1685925"/>
                <a:gridCol w="1514475"/>
                <a:gridCol w="1514475"/>
              </a:tblGrid>
              <a:tr h="516731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Модель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mAP50–95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Precision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Recall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F1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</a:tr>
              <a:tr h="516731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YOLOv8n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0,4991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0,2111</a:t>
                      </a:r>
                    </a:p>
                  </a:txBody>
                  <a:tcPr marL="85725" marR="85725" marT="76200" marB="76200" anchor="ctr">
                    <a:solidFill>
                      <a:srgbClr val="FCE8D5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0,5268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0,5221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0,5244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516731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YOLOv8s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0,5157</a:t>
                      </a:r>
                    </a:p>
                  </a:txBody>
                  <a:tcPr marL="85725" marR="85725" marT="76200" marB="76200" anchor="ctr">
                    <a:solidFill>
                      <a:srgbClr val="FCE8D5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0,1848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0,5581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0,5310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0,5442</a:t>
                      </a:r>
                    </a:p>
                  </a:txBody>
                  <a:tcPr marL="85725" marR="85725" marT="76200" marB="76200" anchor="ctr">
                    <a:solidFill>
                      <a:srgbClr val="FCE8D5"/>
                    </a:solidFill>
                  </a:tcPr>
                </a:tc>
              </a:tr>
              <a:tr h="516731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YOLOv8n aug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0,4250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0,1791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0,5347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0,4779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0,5047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516731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Faster R-CNN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0,4840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0,2060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0,1946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0,7345</a:t>
                      </a:r>
                    </a:p>
                  </a:txBody>
                  <a:tcPr marL="85725" marR="85725" marT="76200" marB="76200" anchor="ctr">
                    <a:solidFill>
                      <a:srgbClr val="FCE8D5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0,3077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516731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SSD300 VGG16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0,0355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0,0112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0,0988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0,1416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0,1164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516731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DETR ResNet50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0,0654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0,0287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0,0545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0,2080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0,0863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516731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EfficientDet D0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0,2078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0,0731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0,3258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0,1903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0,2402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YOLOv8s лидирует по mAP50 и F1; YOLOv8n — по mAP50–95.">
            <a:extLst xmlns:a="http://schemas.openxmlformats.org/drawingml/2006/main">
              <a:ext uri="{FF2B5EF4-FFF2-40B4-BE49-F238E27FC236}">
                <a16:creationId xmlns:a16="http://schemas.microsoft.com/office/drawing/2014/main" id="{7D42E7A3-DFAE-4C38-BF46-C197C65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9117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YOLOv8s лидирует по mAP50 и F1; YOLOv8n — по mAP50–95.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Faster R-CNN находит больше объектов, но создаёт больше ложных рамок.</a:t>
            </a:r>
          </a:p>
        </p:txBody>
      </p:sp>
    </p:spTree>
    <p:extLst>
      <p:ext uri="{BB962C8B-B14F-4D97-AF65-F5344CB8AC3E}">
        <p14:creationId xmlns:p14="http://schemas.microsoft.com/office/powerpoint/2010/main" val="20150001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C918789-43DB-4679-994B-97196728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Качество обнаружения и точность границ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0AC15440-DB94-4E84-92B8-37EBD6BF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ADAC7E0C-558B-408F-9289-5BC4EF0B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9817479-AD0B-48E8-A53C-7CD4A2BD808A}"/>
              </a:ext>
            </a:extLst>
          </p:cNvPr>
          <p:cNvGraphicFramePr/>
          <p:nvPr/>
        </p:nvGraphicFramePr>
        <p:xfrm>
          <a:off xmlns:a="http://schemas.openxmlformats.org/drawingml/2006/main" x="533400" y="1114425"/>
          <a:ext xmlns:a="http://schemas.openxmlformats.org/drawingml/2006/main" cx="111252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69734c2e404b0e"/>
          </a:graphicData>
        </a:graphic>
      </p:graphicFrame>
      <p:sp>
        <p:nvSpPr>
          <p:cNvPr id="5" name="mAP50 проверяет обнаружение при IoU = 0,50.">
            <a:extLst xmlns:a="http://schemas.openxmlformats.org/drawingml/2006/main">
              <a:ext uri="{FF2B5EF4-FFF2-40B4-BE49-F238E27FC236}">
                <a16:creationId xmlns:a16="http://schemas.microsoft.com/office/drawing/2014/main" id="{B33126A1-4C0B-4AEE-BE7E-5913C2B0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mAP50 проверяет обнаружение при IoU = 0,50.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mAP50–95 сильнее реагирует на несовпадение границ рамок.</a:t>
            </a:r>
          </a:p>
        </p:txBody>
      </p:sp>
    </p:spTree>
    <p:extLst>
      <p:ext uri="{BB962C8B-B14F-4D97-AF65-F5344CB8AC3E}">
        <p14:creationId xmlns:p14="http://schemas.microsoft.com/office/powerpoint/2010/main" val="16171680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A0E40E4-C70E-47F6-90B5-43539ED6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AP50 по классам: средняя метрика скрывает различия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9EFB9902-570D-42F5-9D05-D01DF8A1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15036B10-1D79-475E-A2D3-14CACBF3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45133-4F2E-41CF-9914-72158C40E3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54d64aa09438d"/>
          <a:stretch xmlns:a="http://schemas.openxmlformats.org/drawingml/2006/main"/>
        </p:blipFill>
        <p:spPr>
          <a:xfrm xmlns:a="http://schemas.openxmlformats.org/drawingml/2006/main">
            <a:off x="1195427" y="1133475"/>
            <a:ext cx="9801145" cy="4362450"/>
          </a:xfrm>
          <a:prstGeom xmlns:a="http://schemas.openxmlformats.org/drawingml/2006/main" prst="rect">
            <a:avLst/>
          </a:prstGeom>
        </p:spPr>
      </p:pic>
      <p:sp>
        <p:nvSpPr>
          <p:cNvPr id="5" name="Разные модели лидируют на разных классах.">
            <a:extLst xmlns:a="http://schemas.openxmlformats.org/drawingml/2006/main">
              <a:ext uri="{FF2B5EF4-FFF2-40B4-BE49-F238E27FC236}">
                <a16:creationId xmlns:a16="http://schemas.microsoft.com/office/drawing/2014/main" id="{421B87BC-83A0-4571-8068-7AAC0748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483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Разные модели лидируют на разных классах.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7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AP50 deburring основана на 3 объектах, rolled_pit — на 16.</a:t>
            </a:r>
          </a:p>
        </p:txBody>
      </p:sp>
    </p:spTree>
    <p:extLst>
      <p:ext uri="{BB962C8B-B14F-4D97-AF65-F5344CB8AC3E}">
        <p14:creationId xmlns:p14="http://schemas.microsoft.com/office/powerpoint/2010/main" val="3634840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EFB1F856-0B9B-4795-A7DC-746CF292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YOLOv8s: Precision–Recall и ошибки обнаружения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ADE8CA2D-6F0F-4DB5-B738-0BF3D1E7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BE7FBBBB-ABDC-4F0B-B914-3F524047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75428-17F1-4EA5-836B-29D8E952F2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eceaff21a4508"/>
          <a:stretch xmlns:a="http://schemas.openxmlformats.org/drawingml/2006/main"/>
        </p:blipFill>
        <p:spPr>
          <a:xfrm xmlns:a="http://schemas.openxmlformats.org/drawingml/2006/main">
            <a:off x="533400" y="1977784"/>
            <a:ext cx="5391150" cy="2235682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462C5-189F-467A-9DCE-30FE20228F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834562c274377"/>
          <a:stretch xmlns:a="http://schemas.openxmlformats.org/drawingml/2006/main"/>
        </p:blipFill>
        <p:spPr>
          <a:xfrm xmlns:a="http://schemas.openxmlformats.org/drawingml/2006/main">
            <a:off x="6191250" y="1704238"/>
            <a:ext cx="5467350" cy="2735149"/>
          </a:xfrm>
          <a:prstGeom xmlns:a="http://schemas.openxmlformats.org/drawingml/2006/main" prst="rect">
            <a:avLst/>
          </a:prstGeom>
        </p:spPr>
      </p:pic>
      <p:sp>
        <p:nvSpPr>
          <p:cNvPr id="6" name="PR-кривые: зависимость Precision от Recall">
            <a:extLst xmlns:a="http://schemas.openxmlformats.org/drawingml/2006/main">
              <a:ext uri="{FF2B5EF4-FFF2-40B4-BE49-F238E27FC236}">
                <a16:creationId xmlns:a16="http://schemas.microsoft.com/office/drawing/2014/main" id="{28B99054-7466-47E7-8785-73C1AE30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539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PR-кривые: зависимость Precision от Recall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при изменении принятого confidence.</a:t>
            </a:r>
          </a:p>
        </p:txBody>
      </p:sp>
      <p:sp>
        <p:nvSpPr>
          <p:cNvPr id="7" name="При confidence 0,25: TP 120, FP 95, FN 106.">
            <a:extLst xmlns:a="http://schemas.openxmlformats.org/drawingml/2006/main">
              <a:ext uri="{FF2B5EF4-FFF2-40B4-BE49-F238E27FC236}">
                <a16:creationId xmlns:a16="http://schemas.microsoft.com/office/drawing/2014/main" id="{F6A5F697-F33A-47D1-925C-AF93100B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46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При confidence 0,25: TP 120, FP 95, FN 106.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Матрица: строки — прогноз, столбцы — истина.</a:t>
            </a:r>
          </a:p>
        </p:txBody>
      </p:sp>
    </p:spTree>
    <p:extLst>
      <p:ext uri="{BB962C8B-B14F-4D97-AF65-F5344CB8AC3E}">
        <p14:creationId xmlns:p14="http://schemas.microsoft.com/office/powerpoint/2010/main" val="13642186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3570C25-563D-469F-B5E4-DF038A9D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Примеры YOLOv8s: обнаружения и различие границ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561FFA00-C465-4D49-959D-DCA2237E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932538F8-69B5-4631-B7E4-0D8DC0B8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9DF94-7EAB-4187-9708-B04BC3E36B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e5c66ac1e40be"/>
          <a:stretch xmlns:a="http://schemas.openxmlformats.org/drawingml/2006/main"/>
        </p:blipFill>
        <p:spPr>
          <a:xfrm xmlns:a="http://schemas.openxmlformats.org/drawingml/2006/main">
            <a:off x="533400" y="2212581"/>
            <a:ext cx="3543300" cy="1870862"/>
          </a:xfrm>
          <a:prstGeom xmlns:a="http://schemas.openxmlformats.org/drawingml/2006/main" prst="rect">
            <a:avLst/>
          </a:prstGeom>
        </p:spPr>
      </p:pic>
      <p:sp>
        <p:nvSpPr>
          <p:cNvPr id="5" name="inclusion">
            <a:extLst xmlns:a="http://schemas.openxmlformats.org/drawingml/2006/main">
              <a:ext uri="{FF2B5EF4-FFF2-40B4-BE49-F238E27FC236}">
                <a16:creationId xmlns:a16="http://schemas.microsoft.com/office/drawing/2014/main" id="{623A04BC-0F5B-4D59-A9A1-E5BB688B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025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inclusion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01BCD-A86A-4A6C-A43A-59D3FCED1A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0102b38f94812"/>
          <a:stretch xmlns:a="http://schemas.openxmlformats.org/drawingml/2006/main"/>
        </p:blipFill>
        <p:spPr>
          <a:xfrm xmlns:a="http://schemas.openxmlformats.org/drawingml/2006/main">
            <a:off x="4324350" y="2212581"/>
            <a:ext cx="3543300" cy="1870862"/>
          </a:xfrm>
          <a:prstGeom xmlns:a="http://schemas.openxmlformats.org/drawingml/2006/main" prst="rect">
            <a:avLst/>
          </a:prstGeom>
        </p:spPr>
      </p:pic>
      <p:sp>
        <p:nvSpPr>
          <p:cNvPr id="7" name="rolled_pit">
            <a:extLst xmlns:a="http://schemas.openxmlformats.org/drawingml/2006/main">
              <a:ext uri="{FF2B5EF4-FFF2-40B4-BE49-F238E27FC236}">
                <a16:creationId xmlns:a16="http://schemas.microsoft.com/office/drawing/2014/main" id="{1DF568E5-1027-4752-9D82-90277B0D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00625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025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rolled_pit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EEB59-F4B9-4617-B6C7-91D59DC4B2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87ca2257a497e"/>
          <a:stretch xmlns:a="http://schemas.openxmlformats.org/drawingml/2006/main"/>
        </p:blipFill>
        <p:spPr>
          <a:xfrm xmlns:a="http://schemas.openxmlformats.org/drawingml/2006/main">
            <a:off x="8115300" y="2212581"/>
            <a:ext cx="3543300" cy="1870862"/>
          </a:xfrm>
          <a:prstGeom xmlns:a="http://schemas.openxmlformats.org/drawingml/2006/main" prst="rect">
            <a:avLst/>
          </a:prstGeom>
        </p:spPr>
      </p:pic>
      <p:sp>
        <p:nvSpPr>
          <p:cNvPr id="9" name="silk_spot">
            <a:extLst xmlns:a="http://schemas.openxmlformats.org/drawingml/2006/main">
              <a:ext uri="{FF2B5EF4-FFF2-40B4-BE49-F238E27FC236}">
                <a16:creationId xmlns:a16="http://schemas.microsoft.com/office/drawing/2014/main" id="{6993DDEF-E914-4911-8A16-0788D454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025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silk_spot</a:t>
            </a:r>
          </a:p>
        </p:txBody>
      </p:sp>
      <p:sp>
        <p:nvSpPr>
          <p:cNvPr id="10" name="Зелёные рамки — истинная разметка; красные — предсказан">
            <a:extLst xmlns:a="http://schemas.openxmlformats.org/drawingml/2006/main">
              <a:ext uri="{FF2B5EF4-FFF2-40B4-BE49-F238E27FC236}">
                <a16:creationId xmlns:a16="http://schemas.microsoft.com/office/drawing/2014/main" id="{DC4B5A43-712E-4DA3-BCCB-CBC481F3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Зелёные рамки — истинная разметка; красные — предсказания.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Даже правильный класс требует достаточного пересечения рамок.</a:t>
            </a:r>
          </a:p>
        </p:txBody>
      </p:sp>
    </p:spTree>
    <p:extLst>
      <p:ext uri="{BB962C8B-B14F-4D97-AF65-F5344CB8AC3E}">
        <p14:creationId xmlns:p14="http://schemas.microsoft.com/office/powerpoint/2010/main" val="12328993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1F3B6C2-4F35-4CC6-9073-B6537A14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Примеры YOLOv8s: неполное покрытие и пропуск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708F0630-1618-49BA-A7D4-4A1FF43B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0439D597-BC65-4110-AEFF-3D7BDE86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21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BBCD2-DD39-434D-8B8D-3E0CCCED4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eef0f60b44ffa"/>
          <a:stretch xmlns:a="http://schemas.openxmlformats.org/drawingml/2006/main"/>
        </p:blipFill>
        <p:spPr>
          <a:xfrm xmlns:a="http://schemas.openxmlformats.org/drawingml/2006/main">
            <a:off x="1012549" y="1190625"/>
            <a:ext cx="4261402" cy="42005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5AAA0-70F7-4F90-90B5-6D95E0F92C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75a65f34e4708"/>
          <a:stretch xmlns:a="http://schemas.openxmlformats.org/drawingml/2006/main"/>
        </p:blipFill>
        <p:spPr>
          <a:xfrm xmlns:a="http://schemas.openxmlformats.org/drawingml/2006/main">
            <a:off x="6191250" y="1847507"/>
            <a:ext cx="5467350" cy="2886761"/>
          </a:xfrm>
          <a:prstGeom xmlns:a="http://schemas.openxmlformats.org/drawingml/2006/main" prst="rect">
            <a:avLst/>
          </a:prstGeom>
        </p:spPr>
      </p:pic>
      <p:sp>
        <p:nvSpPr>
          <p:cNvPr id="6" name="deburring: модель выделила часть области;">
            <a:extLst xmlns:a="http://schemas.openxmlformats.org/drawingml/2006/main">
              <a:ext uri="{FF2B5EF4-FFF2-40B4-BE49-F238E27FC236}">
                <a16:creationId xmlns:a16="http://schemas.microsoft.com/office/drawing/2014/main" id="{7B563B9F-F643-4FBC-92CF-DA3D1AF2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52197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deburring: модель выделила часть области;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точность границ влияет на TP / FP / FN.</a:t>
            </a:r>
          </a:p>
        </p:txBody>
      </p:sp>
      <p:sp>
        <p:nvSpPr>
          <p:cNvPr id="7" name="waist_folding: в этом кадре при пороге">
            <a:extLst xmlns:a="http://schemas.openxmlformats.org/drawingml/2006/main">
              <a:ext uri="{FF2B5EF4-FFF2-40B4-BE49-F238E27FC236}">
                <a16:creationId xmlns:a16="http://schemas.microsoft.com/office/drawing/2014/main" id="{5AF8D091-9C78-4508-BE13-68CE122C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29275"/>
            <a:ext cx="546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waist_folding: в этом кадре при пороге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confidence 0,25 дефект пропущен.</a:t>
            </a:r>
          </a:p>
        </p:txBody>
      </p:sp>
    </p:spTree>
    <p:extLst>
      <p:ext uri="{BB962C8B-B14F-4D97-AF65-F5344CB8AC3E}">
        <p14:creationId xmlns:p14="http://schemas.microsoft.com/office/powerpoint/2010/main" val="1198592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ECB13D1A-B3D6-430B-866E-942EEDEB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Проблемы и принятые решения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AE0F7A05-4DF8-4412-AA14-1171799D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9EDB5878-A823-4DDB-8031-2FE1E028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0D9C8-EF32-448B-ABBF-3FAFBC508027}"/>
              </a:ext>
            </a:extLst>
          </p:cNvPr>
          <p:cNvGraphicFramePr/>
          <p:nvPr/>
        </p:nvGraphicFramePr>
        <p:xfrm>
          <a:off xmlns:a="http://schemas.openxmlformats.org/drawingml/2006/main" x="533400" y="1162050"/>
          <a:ext xmlns:a="http://schemas.openxmlformats.org/drawingml/2006/main" cx="11125200" cy="4552950"/>
        </p:xfrm>
        <a:graphic xmlns:a="http://schemas.openxmlformats.org/drawingml/2006/main">
          <a:graphicData uri="http://schemas.openxmlformats.org/drawingml/2006/table">
            <a:tbl>
              <a:tblPr firstRow="1" firstCol="0" lastRow="0" bandRow="0"/>
              <a:tblGrid>
                <a:gridCol w="4229100"/>
                <a:gridCol w="6896100"/>
              </a:tblGrid>
              <a:tr h="758825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Проблема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Решение</a:t>
                      </a:r>
                    </a:p>
                  </a:txBody>
                  <a:tcPr marL="85725" marR="85725" marT="76200" marB="76200" anchor="ctr">
                    <a:solidFill>
                      <a:srgbClr val="8B3D17"/>
                    </a:solidFill>
                  </a:tcPr>
                </a:tc>
              </a:tr>
              <a:tr h="758825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Процессы загрузчика в Windows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Защита запуска __main__, freeze_support;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workers = 0 для устойчивого запуска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Старый DETR: рамки делились на 512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DetrImageProcessor, проверка геометрии;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повторное обучение и новый checkpoint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EfficientDet: выход рамки за границу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Clipping всех координат, удаление нулевой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площади; сохранение checkpoint до val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Показатели библиотек несопоставимы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Общий test, формат рамок и оценщик;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сохранённые предсказания и manifest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Чувствительность GPU-результатов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 anchor="ctr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Явная фиксация среды; проверка метрик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292929"/>
                          </a:solidFill>
                          <a:latin typeface="Aptos Black"/>
                          <a:ea typeface="Aptos Black"/>
                          <a:cs typeface="Aptos Black"/>
                        </a:rPr>
                        <a:t>и отдельный допуск 0,0001 px для геометрии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Каждое исправление описано в отчёте с причиной и провер">
            <a:extLst xmlns:a="http://schemas.openxmlformats.org/drawingml/2006/main">
              <a:ext uri="{FF2B5EF4-FFF2-40B4-BE49-F238E27FC236}">
                <a16:creationId xmlns:a16="http://schemas.microsoft.com/office/drawing/2014/main" id="{DAE88A15-3714-4267-8856-74D17182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8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Каждое исправление описано в отчёте с причиной и проверкой.</a:t>
            </a:r>
          </a:p>
        </p:txBody>
      </p:sp>
    </p:spTree>
    <p:extLst>
      <p:ext uri="{BB962C8B-B14F-4D97-AF65-F5344CB8AC3E}">
        <p14:creationId xmlns:p14="http://schemas.microsoft.com/office/powerpoint/2010/main" val="6556817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C04F15">
            <a:alpha val="84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52C2784-1310-4BDC-8827-26024618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7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Выводы и дальнейшая работа</a:t>
            </a:r>
          </a:p>
        </p:txBody>
      </p:sp>
      <p:sp>
        <p:nvSpPr>
          <p:cNvPr id="2" name="Проектный практикум · Дефекты металлическ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3143E7A2-087D-4528-B804-39AA13C6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Проектный практикум · Дефекты металлической поверхности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CD7047E0-0C9D-494E-9E40-CB09D2FC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135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23</a:t>
            </a:r>
          </a:p>
        </p:txBody>
      </p:sp>
      <p:sp>
        <p:nvSpPr>
          <p:cNvPr id="4" name="Основная конфигурация для развития — YOLOv8s">
            <a:extLst xmlns:a="http://schemas.openxmlformats.org/drawingml/2006/main">
              <a:ext uri="{FF2B5EF4-FFF2-40B4-BE49-F238E27FC236}">
                <a16:creationId xmlns:a16="http://schemas.microsoft.com/office/drawing/2014/main" id="{8865835D-5FC2-46B0-A386-E28D7C4D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400" b="1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Основная конфигурация для развития — YOLOv8s</a:t>
            </a:r>
          </a:p>
        </p:txBody>
      </p:sp>
      <p:sp>
        <p:nvSpPr>
          <p:cNvPr id="5" name="mAP50 = 0,5157 · F1 = 0,5442">
            <a:extLst xmlns:a="http://schemas.openxmlformats.org/drawingml/2006/main">
              <a:ext uri="{FF2B5EF4-FFF2-40B4-BE49-F238E27FC236}">
                <a16:creationId xmlns:a16="http://schemas.microsoft.com/office/drawing/2014/main" id="{195E21A0-000E-43CC-A2BE-28552300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17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mAP50 = 0,5157 · F1 = 0,5442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7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17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YOLOv8n лучше по mAP50–95; Faster R-CNN — по Recall.</a:t>
            </a:r>
          </a:p>
        </p:txBody>
      </p:sp>
      <p:sp>
        <p:nvSpPr>
          <p:cNvPr id="6" name="Результат: подготовленные данные, пять семейств моделей">
            <a:extLst xmlns:a="http://schemas.openxmlformats.org/drawingml/2006/main">
              <a:ext uri="{FF2B5EF4-FFF2-40B4-BE49-F238E27FC236}">
                <a16:creationId xmlns:a16="http://schemas.microsoft.com/office/drawing/2014/main" id="{D51DF0AF-8143-433C-8080-E366785C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1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Результат: подготовленные данные, пять семейств моделей,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100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семь экспериментов, единая оценка и разбор ошибок.</a:t>
            </a:r>
          </a:p>
        </p:txBody>
      </p:sp>
      <p:sp>
        <p:nvSpPr>
          <p:cNvPr id="7" name="Следующий шаг: расширить редкие классы, выровнять услов">
            <a:extLst xmlns:a="http://schemas.openxmlformats.org/drawingml/2006/main">
              <a:ext uri="{FF2B5EF4-FFF2-40B4-BE49-F238E27FC236}">
                <a16:creationId xmlns:a16="http://schemas.microsoft.com/office/drawing/2014/main" id="{A8F628F4-5DD3-426A-85DC-B029C6CF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Следующий шаг: расширить редкие классы, выровнять условия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defRPr>
            </a:pPr>
            <a:r>
              <a:rPr sz="2025" b="0">
                <a:solidFill>
                  <a:srgbClr val="FFFFFF"/>
                </a:solidFill>
                <a:latin typeface="Aptos Black"/>
                <a:ea typeface="Aptos Black"/>
                <a:cs typeface="Aptos Black"/>
              </a:rPr>
              <a:t>обучения, повторить seed и проверить новые производственные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215802457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2026-10-11T15:54:26.1840000Z</dcterms:created>
  <dcterms:modified xsi:type="dcterms:W3CDTF">2026-10-11T15:54:26.1840000Z</dcterms:modified>
</coreProperties>
</file>